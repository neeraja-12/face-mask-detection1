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6" r:id="rId1"/>
  </p:sldMasterIdLst>
  <p:notesMasterIdLst>
    <p:notesMasterId r:id="rId28"/>
  </p:notesMasterIdLst>
  <p:sldIdLst>
    <p:sldId id="256" r:id="rId2"/>
    <p:sldId id="300" r:id="rId3"/>
    <p:sldId id="288" r:id="rId4"/>
    <p:sldId id="299" r:id="rId5"/>
    <p:sldId id="289" r:id="rId6"/>
    <p:sldId id="290" r:id="rId7"/>
    <p:sldId id="291" r:id="rId8"/>
    <p:sldId id="293" r:id="rId9"/>
    <p:sldId id="295" r:id="rId10"/>
    <p:sldId id="297" r:id="rId11"/>
    <p:sldId id="325" r:id="rId12"/>
    <p:sldId id="326" r:id="rId13"/>
    <p:sldId id="327" r:id="rId14"/>
    <p:sldId id="328" r:id="rId15"/>
    <p:sldId id="329" r:id="rId16"/>
    <p:sldId id="330" r:id="rId17"/>
    <p:sldId id="343" r:id="rId18"/>
    <p:sldId id="344" r:id="rId19"/>
    <p:sldId id="345" r:id="rId20"/>
    <p:sldId id="335" r:id="rId21"/>
    <p:sldId id="337" r:id="rId22"/>
    <p:sldId id="338" r:id="rId23"/>
    <p:sldId id="339" r:id="rId24"/>
    <p:sldId id="340" r:id="rId25"/>
    <p:sldId id="341" r:id="rId26"/>
    <p:sldId id="342"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a:srgbClr val="0000FF"/>
    <a:srgbClr val="3399FF"/>
    <a:srgbClr val="FF00FF"/>
    <a:srgbClr val="008000"/>
    <a:srgbClr val="FF9900"/>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32" autoAdjust="0"/>
    <p:restoredTop sz="94686" autoAdjust="0"/>
  </p:normalViewPr>
  <p:slideViewPr>
    <p:cSldViewPr>
      <p:cViewPr varScale="1">
        <p:scale>
          <a:sx n="83" d="100"/>
          <a:sy n="83" d="100"/>
        </p:scale>
        <p:origin x="-1426" y="-77"/>
      </p:cViewPr>
      <p:guideLst>
        <p:guide orient="horz" pos="2160"/>
        <p:guide pos="2880"/>
      </p:guideLst>
    </p:cSldViewPr>
  </p:slideViewPr>
  <p:outlineViewPr>
    <p:cViewPr>
      <p:scale>
        <a:sx n="33" d="100"/>
        <a:sy n="33" d="100"/>
      </p:scale>
      <p:origin x="0" y="1930"/>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0F66696-D928-41BA-87A6-231F0209115D}" type="datetimeFigureOut">
              <a:rPr lang="en-US" smtClean="0"/>
              <a:pPr/>
              <a:t>11/10/2021</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E6006DA-15F2-4B75-B083-FB2C85FD747D}" type="slidenum">
              <a:rPr lang="en-US" smtClean="0"/>
              <a:pPr/>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23680E5-E1A8-4225-8B51-183DC88CADEC}" type="datetime1">
              <a:rPr lang="en-US" smtClean="0"/>
              <a:pPr/>
              <a:t>11/10/2021</a:t>
            </a:fld>
            <a:endParaRPr lang="en-US" dirty="0"/>
          </a:p>
        </p:txBody>
      </p:sp>
      <p:sp>
        <p:nvSpPr>
          <p:cNvPr id="5" name="Footer Placeholder 4"/>
          <p:cNvSpPr>
            <a:spLocks noGrp="1"/>
          </p:cNvSpPr>
          <p:nvPr>
            <p:ph type="ftr" sz="quarter" idx="11"/>
          </p:nvPr>
        </p:nvSpPr>
        <p:spPr/>
        <p:txBody>
          <a:bodyPr/>
          <a:lstStyle/>
          <a:p>
            <a:r>
              <a:rPr lang="en-US" dirty="0" smtClean="0"/>
              <a:t>TITLE OF THE PROJECT</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6C8AE9E-1ADC-4C33-A87B-AFD3453FD4CF}" type="datetime1">
              <a:rPr lang="en-US" smtClean="0"/>
              <a:pPr/>
              <a:t>11/10/2021</a:t>
            </a:fld>
            <a:endParaRPr lang="en-US" dirty="0"/>
          </a:p>
        </p:txBody>
      </p:sp>
      <p:sp>
        <p:nvSpPr>
          <p:cNvPr id="5" name="Footer Placeholder 4"/>
          <p:cNvSpPr>
            <a:spLocks noGrp="1"/>
          </p:cNvSpPr>
          <p:nvPr>
            <p:ph type="ftr" sz="quarter" idx="11"/>
          </p:nvPr>
        </p:nvSpPr>
        <p:spPr/>
        <p:txBody>
          <a:bodyPr/>
          <a:lstStyle/>
          <a:p>
            <a:r>
              <a:rPr lang="en-US" dirty="0" smtClean="0"/>
              <a:t>TITLE OF THE PROJECT</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85AB666-D24C-4F22-8B16-FE1A1AD62C01}" type="datetime1">
              <a:rPr lang="en-US" smtClean="0"/>
              <a:pPr/>
              <a:t>11/10/2021</a:t>
            </a:fld>
            <a:endParaRPr lang="en-US" dirty="0"/>
          </a:p>
        </p:txBody>
      </p:sp>
      <p:sp>
        <p:nvSpPr>
          <p:cNvPr id="5" name="Footer Placeholder 4"/>
          <p:cNvSpPr>
            <a:spLocks noGrp="1"/>
          </p:cNvSpPr>
          <p:nvPr>
            <p:ph type="ftr" sz="quarter" idx="11"/>
          </p:nvPr>
        </p:nvSpPr>
        <p:spPr/>
        <p:txBody>
          <a:bodyPr/>
          <a:lstStyle/>
          <a:p>
            <a:r>
              <a:rPr lang="en-US" dirty="0" smtClean="0"/>
              <a:t>TITLE OF THE PROJECT</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3F3B481-84E3-42C9-9315-E4172D0F548F}" type="datetime1">
              <a:rPr lang="en-US" smtClean="0"/>
              <a:pPr/>
              <a:t>11/10/2021</a:t>
            </a:fld>
            <a:endParaRPr lang="en-US" dirty="0"/>
          </a:p>
        </p:txBody>
      </p:sp>
      <p:sp>
        <p:nvSpPr>
          <p:cNvPr id="6" name="Footer Placeholder 5"/>
          <p:cNvSpPr>
            <a:spLocks noGrp="1"/>
          </p:cNvSpPr>
          <p:nvPr>
            <p:ph type="ftr" sz="quarter" idx="11"/>
          </p:nvPr>
        </p:nvSpPr>
        <p:spPr/>
        <p:txBody>
          <a:bodyPr/>
          <a:lstStyle/>
          <a:p>
            <a:r>
              <a:rPr lang="en-US" dirty="0" smtClean="0"/>
              <a:t>TITLE OF THE PROJECT</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2A82783-8353-4BA6-BC0E-63555E6C5187}" type="datetime1">
              <a:rPr lang="en-US" smtClean="0"/>
              <a:pPr/>
              <a:t>11/10/2021</a:t>
            </a:fld>
            <a:endParaRPr lang="en-US" dirty="0"/>
          </a:p>
        </p:txBody>
      </p:sp>
      <p:sp>
        <p:nvSpPr>
          <p:cNvPr id="8" name="Footer Placeholder 7"/>
          <p:cNvSpPr>
            <a:spLocks noGrp="1"/>
          </p:cNvSpPr>
          <p:nvPr>
            <p:ph type="ftr" sz="quarter" idx="11"/>
          </p:nvPr>
        </p:nvSpPr>
        <p:spPr/>
        <p:txBody>
          <a:bodyPr/>
          <a:lstStyle/>
          <a:p>
            <a:r>
              <a:rPr lang="en-US" dirty="0" smtClean="0"/>
              <a:t>TITLE OF THE PROJECT</a:t>
            </a:r>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BA60F04-8677-47DE-AEA7-EE48EE84F177}" type="datetime1">
              <a:rPr lang="en-US" smtClean="0"/>
              <a:pPr/>
              <a:t>11/10/2021</a:t>
            </a:fld>
            <a:endParaRPr lang="en-US" dirty="0"/>
          </a:p>
        </p:txBody>
      </p:sp>
      <p:sp>
        <p:nvSpPr>
          <p:cNvPr id="4" name="Footer Placeholder 3"/>
          <p:cNvSpPr>
            <a:spLocks noGrp="1"/>
          </p:cNvSpPr>
          <p:nvPr>
            <p:ph type="ftr" sz="quarter" idx="11"/>
          </p:nvPr>
        </p:nvSpPr>
        <p:spPr/>
        <p:txBody>
          <a:bodyPr/>
          <a:lstStyle/>
          <a:p>
            <a:r>
              <a:rPr lang="en-US" dirty="0" smtClean="0"/>
              <a:t>TITLE OF THE PROJECT</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8C4BCD4-A345-4657-9AF6-D96C85A4F1D4}" type="datetime1">
              <a:rPr lang="en-US" smtClean="0"/>
              <a:pPr/>
              <a:t>11/10/2021</a:t>
            </a:fld>
            <a:endParaRPr lang="en-US" dirty="0"/>
          </a:p>
        </p:txBody>
      </p:sp>
      <p:sp>
        <p:nvSpPr>
          <p:cNvPr id="3" name="Footer Placeholder 2"/>
          <p:cNvSpPr>
            <a:spLocks noGrp="1"/>
          </p:cNvSpPr>
          <p:nvPr>
            <p:ph type="ftr" sz="quarter" idx="11"/>
          </p:nvPr>
        </p:nvSpPr>
        <p:spPr/>
        <p:txBody>
          <a:bodyPr/>
          <a:lstStyle/>
          <a:p>
            <a:r>
              <a:rPr lang="en-US" dirty="0" smtClean="0"/>
              <a:t>TITLE OF THE PROJECT</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7CDF558-E6A6-4233-B962-A833693C06CB}" type="datetime1">
              <a:rPr lang="en-US" smtClean="0"/>
              <a:pPr/>
              <a:t>11/10/2021</a:t>
            </a:fld>
            <a:endParaRPr lang="en-US" dirty="0"/>
          </a:p>
        </p:txBody>
      </p:sp>
      <p:sp>
        <p:nvSpPr>
          <p:cNvPr id="6" name="Footer Placeholder 5"/>
          <p:cNvSpPr>
            <a:spLocks noGrp="1"/>
          </p:cNvSpPr>
          <p:nvPr>
            <p:ph type="ftr" sz="quarter" idx="11"/>
          </p:nvPr>
        </p:nvSpPr>
        <p:spPr/>
        <p:txBody>
          <a:bodyPr/>
          <a:lstStyle/>
          <a:p>
            <a:r>
              <a:rPr lang="en-US" dirty="0" smtClean="0"/>
              <a:t>TITLE OF THE PROJECT</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68ADC06-E132-4B33-A7CF-1C4248DD29E5}" type="datetime1">
              <a:rPr lang="en-US" smtClean="0"/>
              <a:pPr/>
              <a:t>11/10/2021</a:t>
            </a:fld>
            <a:endParaRPr lang="en-US" dirty="0"/>
          </a:p>
        </p:txBody>
      </p:sp>
      <p:sp>
        <p:nvSpPr>
          <p:cNvPr id="6" name="Footer Placeholder 5"/>
          <p:cNvSpPr>
            <a:spLocks noGrp="1"/>
          </p:cNvSpPr>
          <p:nvPr>
            <p:ph type="ftr" sz="quarter" idx="11"/>
          </p:nvPr>
        </p:nvSpPr>
        <p:spPr/>
        <p:txBody>
          <a:bodyPr/>
          <a:lstStyle/>
          <a:p>
            <a:r>
              <a:rPr lang="en-US" dirty="0" smtClean="0"/>
              <a:t>TITLE OF THE PROJECT</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3B931A-A47A-4C5C-9351-3C60B9C3C0EE}" type="datetime1">
              <a:rPr lang="en-US" smtClean="0"/>
              <a:pPr/>
              <a:t>11/10/2021</a:t>
            </a:fld>
            <a:endParaRPr lang="en-US" dirty="0"/>
          </a:p>
        </p:txBody>
      </p:sp>
      <p:sp>
        <p:nvSpPr>
          <p:cNvPr id="5" name="Footer Placeholder 4"/>
          <p:cNvSpPr>
            <a:spLocks noGrp="1"/>
          </p:cNvSpPr>
          <p:nvPr>
            <p:ph type="ftr" sz="quarter" idx="11"/>
          </p:nvPr>
        </p:nvSpPr>
        <p:spPr/>
        <p:txBody>
          <a:bodyPr/>
          <a:lstStyle/>
          <a:p>
            <a:r>
              <a:rPr lang="en-US" dirty="0" smtClean="0"/>
              <a:t>TITLE OF THE PROJECT</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59C6441-AFE7-4699-81FD-82C6C3EE1882}" type="datetime1">
              <a:rPr lang="en-US" smtClean="0"/>
              <a:pPr/>
              <a:t>11/10/2021</a:t>
            </a:fld>
            <a:endParaRPr lang="en-US" dirty="0"/>
          </a:p>
        </p:txBody>
      </p:sp>
      <p:sp>
        <p:nvSpPr>
          <p:cNvPr id="5" name="Footer Placeholder 4"/>
          <p:cNvSpPr>
            <a:spLocks noGrp="1"/>
          </p:cNvSpPr>
          <p:nvPr>
            <p:ph type="ftr" sz="quarter" idx="11"/>
          </p:nvPr>
        </p:nvSpPr>
        <p:spPr/>
        <p:txBody>
          <a:bodyPr/>
          <a:lstStyle/>
          <a:p>
            <a:r>
              <a:rPr lang="en-US" dirty="0" smtClean="0"/>
              <a:t>TITLE OF THE PROJECT</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C00DBC8-B7C4-4615-AFB7-1DFB73E75769}" type="datetime1">
              <a:rPr lang="en-US" smtClean="0"/>
              <a:pPr/>
              <a:t>11/10/2021</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smtClean="0"/>
              <a:t>TITLE OF THE PROJECT</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www.geeksforgeeks.org/machine-learning/"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cikits.appspot.com/scikits"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609600" y="685800"/>
            <a:ext cx="7772400" cy="1219200"/>
          </a:xfrm>
        </p:spPr>
        <p:txBody>
          <a:bodyPr>
            <a:normAutofit fontScale="90000"/>
          </a:bodyPr>
          <a:lstStyle/>
          <a:p>
            <a:r>
              <a:rPr lang="en-US" sz="7200" dirty="0" smtClean="0">
                <a:latin typeface="Calisto MT" pitchFamily="18" charset="0"/>
              </a:rPr>
              <a:t/>
            </a:r>
            <a:br>
              <a:rPr lang="en-US" sz="7200" dirty="0" smtClean="0">
                <a:latin typeface="Calisto MT" pitchFamily="18" charset="0"/>
              </a:rPr>
            </a:br>
            <a:r>
              <a:rPr lang="en-US" sz="8000" dirty="0" smtClean="0">
                <a:latin typeface="Calisto MT" pitchFamily="18" charset="0"/>
              </a:rPr>
              <a:t/>
            </a:r>
            <a:br>
              <a:rPr lang="en-US" sz="8000" dirty="0" smtClean="0">
                <a:latin typeface="Calisto MT" pitchFamily="18" charset="0"/>
              </a:rPr>
            </a:br>
            <a:r>
              <a:rPr lang="en-US" sz="7200" dirty="0" smtClean="0">
                <a:latin typeface="Calisto MT" pitchFamily="18" charset="0"/>
              </a:rPr>
              <a:t/>
            </a:r>
            <a:br>
              <a:rPr lang="en-US" sz="7200" dirty="0" smtClean="0">
                <a:latin typeface="Calisto MT" pitchFamily="18" charset="0"/>
              </a:rPr>
            </a:br>
            <a:r>
              <a:rPr lang="en-US" sz="7200" dirty="0" smtClean="0">
                <a:latin typeface="Calisto MT" pitchFamily="18" charset="0"/>
              </a:rPr>
              <a:t/>
            </a:r>
            <a:br>
              <a:rPr lang="en-US" sz="7200" dirty="0" smtClean="0">
                <a:latin typeface="Calisto MT" pitchFamily="18" charset="0"/>
              </a:rPr>
            </a:br>
            <a:endParaRPr lang="en-US" sz="7200" dirty="0">
              <a:latin typeface="Calisto MT" pitchFamily="18" charset="0"/>
            </a:endParaRPr>
          </a:p>
        </p:txBody>
      </p:sp>
      <p:sp>
        <p:nvSpPr>
          <p:cNvPr id="7" name="Subtitle 6"/>
          <p:cNvSpPr>
            <a:spLocks noGrp="1"/>
          </p:cNvSpPr>
          <p:nvPr>
            <p:ph type="subTitle" idx="1"/>
          </p:nvPr>
        </p:nvSpPr>
        <p:spPr>
          <a:xfrm>
            <a:off x="1524000" y="2362200"/>
            <a:ext cx="6400800" cy="3733800"/>
          </a:xfrm>
        </p:spPr>
        <p:txBody>
          <a:bodyPr>
            <a:normAutofit/>
          </a:bodyPr>
          <a:lstStyle/>
          <a:p>
            <a:r>
              <a:rPr lang="en-US" sz="2400" dirty="0" smtClean="0">
                <a:solidFill>
                  <a:schemeClr val="bg1">
                    <a:lumMod val="50000"/>
                  </a:schemeClr>
                </a:solidFill>
                <a:latin typeface="Calisto MT" pitchFamily="18" charset="0"/>
              </a:rPr>
              <a:t>Batch - Number</a:t>
            </a:r>
          </a:p>
          <a:p>
            <a:r>
              <a:rPr lang="en-US" sz="2800" b="1" dirty="0" smtClean="0">
                <a:solidFill>
                  <a:srgbClr val="0000FF"/>
                </a:solidFill>
                <a:latin typeface="Calisto MT" pitchFamily="18" charset="0"/>
              </a:rPr>
              <a:t>XXX </a:t>
            </a:r>
            <a:r>
              <a:rPr lang="en-US" sz="1400" b="1" dirty="0" smtClean="0">
                <a:solidFill>
                  <a:srgbClr val="0000FF"/>
                </a:solidFill>
                <a:latin typeface="Calisto MT" pitchFamily="18" charset="0"/>
              </a:rPr>
              <a:t>(XX)</a:t>
            </a:r>
            <a:endParaRPr lang="en-IN" sz="1400" b="1" dirty="0" smtClean="0">
              <a:solidFill>
                <a:srgbClr val="0000FF"/>
              </a:solidFill>
              <a:latin typeface="Calisto MT" pitchFamily="18" charset="0"/>
            </a:endParaRPr>
          </a:p>
          <a:p>
            <a:r>
              <a:rPr lang="en-US" sz="2800" b="1" dirty="0" smtClean="0">
                <a:solidFill>
                  <a:srgbClr val="0000FF"/>
                </a:solidFill>
                <a:latin typeface="Calisto MT" pitchFamily="18" charset="0"/>
              </a:rPr>
              <a:t>XXXX </a:t>
            </a:r>
            <a:r>
              <a:rPr lang="en-US" sz="1400" b="1" dirty="0" smtClean="0">
                <a:solidFill>
                  <a:srgbClr val="0000FF"/>
                </a:solidFill>
                <a:latin typeface="Calisto MT" pitchFamily="18" charset="0"/>
              </a:rPr>
              <a:t>(xxx)</a:t>
            </a:r>
            <a:endParaRPr lang="en-IN" sz="1400" b="1" dirty="0" smtClean="0">
              <a:solidFill>
                <a:srgbClr val="0000FF"/>
              </a:solidFill>
              <a:latin typeface="Calisto MT" pitchFamily="18" charset="0"/>
            </a:endParaRPr>
          </a:p>
          <a:p>
            <a:endParaRPr lang="en-US" sz="1300" dirty="0" smtClean="0">
              <a:latin typeface="Calisto MT" pitchFamily="18" charset="0"/>
            </a:endParaRPr>
          </a:p>
          <a:p>
            <a:pPr>
              <a:spcBef>
                <a:spcPts val="0"/>
              </a:spcBef>
            </a:pPr>
            <a:r>
              <a:rPr lang="en-US" sz="1400" dirty="0" smtClean="0">
                <a:solidFill>
                  <a:schemeClr val="bg1">
                    <a:lumMod val="50000"/>
                  </a:schemeClr>
                </a:solidFill>
                <a:latin typeface="Calisto MT" pitchFamily="18" charset="0"/>
              </a:rPr>
              <a:t>Under the guidance of</a:t>
            </a:r>
          </a:p>
          <a:p>
            <a:pPr>
              <a:spcBef>
                <a:spcPts val="0"/>
              </a:spcBef>
            </a:pPr>
            <a:r>
              <a:rPr lang="en-US" sz="2200" b="1" dirty="0" smtClean="0">
                <a:solidFill>
                  <a:srgbClr val="00B050"/>
                </a:solidFill>
                <a:latin typeface="Calisto MT" pitchFamily="18" charset="0"/>
              </a:rPr>
              <a:t>Mr. XXXX</a:t>
            </a:r>
          </a:p>
          <a:p>
            <a:pPr>
              <a:spcBef>
                <a:spcPts val="0"/>
              </a:spcBef>
            </a:pPr>
            <a:r>
              <a:rPr lang="en-US" sz="1400" dirty="0" smtClean="0">
                <a:solidFill>
                  <a:schemeClr val="bg1">
                    <a:lumMod val="50000"/>
                  </a:schemeClr>
                </a:solidFill>
                <a:latin typeface="Calisto MT" pitchFamily="18" charset="0"/>
              </a:rPr>
              <a:t>Assistant Professor</a:t>
            </a:r>
            <a:endParaRPr lang="en-US" sz="1400" dirty="0">
              <a:solidFill>
                <a:schemeClr val="bg1">
                  <a:lumMod val="50000"/>
                </a:schemeClr>
              </a:solidFill>
              <a:latin typeface="Calisto MT" pitchFamily="18" charset="0"/>
            </a:endParaRPr>
          </a:p>
          <a:p>
            <a:endParaRPr lang="en-US" sz="3600" dirty="0">
              <a:latin typeface="Calisto MT" pitchFamily="18" charset="0"/>
            </a:endParaRPr>
          </a:p>
        </p:txBody>
      </p:sp>
      <p:sp>
        <p:nvSpPr>
          <p:cNvPr id="33793" name="Rectangle 1"/>
          <p:cNvSpPr>
            <a:spLocks noChangeArrowheads="1"/>
          </p:cNvSpPr>
          <p:nvPr/>
        </p:nvSpPr>
        <p:spPr bwMode="auto">
          <a:xfrm>
            <a:off x="914400" y="1066800"/>
            <a:ext cx="7543800" cy="107721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algn="ctr" fontAlgn="base">
              <a:spcBef>
                <a:spcPct val="0"/>
              </a:spcBef>
              <a:spcAft>
                <a:spcPct val="0"/>
              </a:spcAft>
            </a:pPr>
            <a:r>
              <a:rPr lang="en-US" sz="3200" b="1" dirty="0" smtClean="0">
                <a:solidFill>
                  <a:srgbClr val="FF6600"/>
                </a:solidFill>
                <a:latin typeface="Calisto MT" pitchFamily="18" charset="0"/>
                <a:ea typeface="Times New Roman" pitchFamily="18" charset="0"/>
                <a:cs typeface="Times New Roman" pitchFamily="18" charset="0"/>
              </a:rPr>
              <a:t>Face Mask Detection Using Deep Learning</a:t>
            </a:r>
            <a:r>
              <a:rPr lang="en-US" sz="3200" b="1" dirty="0" smtClean="0">
                <a:solidFill>
                  <a:srgbClr val="FF6600"/>
                </a:solidFill>
                <a:latin typeface="Calisto MT" pitchFamily="18" charset="0"/>
                <a:cs typeface="Times New Roman" pitchFamily="18" charset="0"/>
              </a:rPr>
              <a:t>                                    </a:t>
            </a:r>
            <a:r>
              <a:rPr kumimoji="0" lang="en-US" sz="2000" b="1" i="0" u="none" strike="noStrike" cap="none" normalizeH="0" baseline="0" dirty="0" smtClean="0">
                <a:ln>
                  <a:noFill/>
                </a:ln>
                <a:solidFill>
                  <a:srgbClr val="FF6600"/>
                </a:solidFill>
                <a:effectLst/>
                <a:latin typeface="Calisto MT" pitchFamily="18" charset="0"/>
                <a:cs typeface="Times New Roman" pitchFamily="18" charset="0"/>
              </a:rPr>
              <a:t>Dt:</a:t>
            </a:r>
            <a:endParaRPr kumimoji="0" lang="en-US" b="1" i="0" u="none" strike="noStrike" cap="none" normalizeH="0" baseline="0" dirty="0" smtClean="0">
              <a:ln>
                <a:noFill/>
              </a:ln>
              <a:solidFill>
                <a:schemeClr val="tx1"/>
              </a:solidFill>
              <a:effectLst/>
              <a:latin typeface="Arial" pitchFamily="34" charset="0"/>
              <a:cs typeface="Arial" pitchFamily="34" charset="0"/>
            </a:endParaRPr>
          </a:p>
        </p:txBody>
      </p:sp>
      <p:pic>
        <p:nvPicPr>
          <p:cNvPr id="5" name="Picture 4"/>
          <p:cNvPicPr>
            <a:picLocks noChangeAspect="1" noChangeArrowheads="1"/>
          </p:cNvPicPr>
          <p:nvPr/>
        </p:nvPicPr>
        <p:blipFill>
          <a:blip r:embed="rId2" cstate="print"/>
          <a:srcRect/>
          <a:stretch>
            <a:fillRect/>
          </a:stretch>
        </p:blipFill>
        <p:spPr bwMode="auto">
          <a:xfrm>
            <a:off x="3962400" y="304800"/>
            <a:ext cx="978681" cy="71627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4000" b="1" dirty="0" smtClean="0">
                <a:solidFill>
                  <a:srgbClr val="FF6600"/>
                </a:solidFill>
                <a:latin typeface="Calisto MT" pitchFamily="18" charset="0"/>
              </a:rPr>
              <a:t>CONTENTS</a:t>
            </a:r>
            <a:endParaRPr lang="en-US" sz="4000" b="1" dirty="0"/>
          </a:p>
        </p:txBody>
      </p:sp>
      <p:sp>
        <p:nvSpPr>
          <p:cNvPr id="3" name="Content Placeholder 2"/>
          <p:cNvSpPr>
            <a:spLocks noGrp="1"/>
          </p:cNvSpPr>
          <p:nvPr>
            <p:ph idx="1"/>
          </p:nvPr>
        </p:nvSpPr>
        <p:spPr/>
        <p:txBody>
          <a:bodyPr>
            <a:normAutofit fontScale="47500" lnSpcReduction="20000"/>
          </a:bodyPr>
          <a:lstStyle/>
          <a:p>
            <a:r>
              <a:rPr lang="en-GB" sz="3300" dirty="0" smtClean="0">
                <a:solidFill>
                  <a:srgbClr val="FF6600"/>
                </a:solidFill>
                <a:latin typeface="Calisto MT" pitchFamily="18" charset="0"/>
              </a:rPr>
              <a:t>ABSTRACT</a:t>
            </a:r>
          </a:p>
          <a:p>
            <a:r>
              <a:rPr lang="en-GB" sz="3300" dirty="0" smtClean="0">
                <a:solidFill>
                  <a:srgbClr val="FF6600"/>
                </a:solidFill>
                <a:latin typeface="Calisto MT" pitchFamily="18" charset="0"/>
              </a:rPr>
              <a:t>LITERATURE SURVEY</a:t>
            </a:r>
          </a:p>
          <a:p>
            <a:r>
              <a:rPr lang="en-GB" sz="3300" dirty="0" smtClean="0">
                <a:solidFill>
                  <a:srgbClr val="FF6600"/>
                </a:solidFill>
                <a:latin typeface="Calisto MT" pitchFamily="18" charset="0"/>
              </a:rPr>
              <a:t>INTRODUCTION</a:t>
            </a:r>
          </a:p>
          <a:p>
            <a:r>
              <a:rPr lang="en-GB" sz="3300" dirty="0" smtClean="0">
                <a:solidFill>
                  <a:srgbClr val="FF6600"/>
                </a:solidFill>
                <a:latin typeface="Calisto MT" pitchFamily="18" charset="0"/>
              </a:rPr>
              <a:t>PROBLEM STATEMENT</a:t>
            </a:r>
          </a:p>
          <a:p>
            <a:r>
              <a:rPr lang="en-GB" sz="3300" dirty="0" smtClean="0">
                <a:solidFill>
                  <a:srgbClr val="FF6600"/>
                </a:solidFill>
                <a:latin typeface="Calisto MT" pitchFamily="18" charset="0"/>
              </a:rPr>
              <a:t>EXISTING SYSTEM WITH DRAWBACKS</a:t>
            </a:r>
          </a:p>
          <a:p>
            <a:r>
              <a:rPr lang="en-GB" sz="3300" dirty="0" smtClean="0">
                <a:solidFill>
                  <a:srgbClr val="FF6600"/>
                </a:solidFill>
                <a:latin typeface="Calisto MT" pitchFamily="18" charset="0"/>
              </a:rPr>
              <a:t>PROPOSED SYSTEM WITH ADVANTAGES</a:t>
            </a:r>
          </a:p>
          <a:p>
            <a:r>
              <a:rPr lang="en-GB" sz="3300" dirty="0" smtClean="0">
                <a:solidFill>
                  <a:srgbClr val="FF6600"/>
                </a:solidFill>
                <a:latin typeface="Calisto MT" pitchFamily="18" charset="0"/>
              </a:rPr>
              <a:t>SYSTEM REQUIREMENTS</a:t>
            </a:r>
          </a:p>
          <a:p>
            <a:r>
              <a:rPr lang="en-GB" sz="3300" dirty="0" smtClean="0">
                <a:solidFill>
                  <a:srgbClr val="FF6600"/>
                </a:solidFill>
                <a:latin typeface="Calisto MT" pitchFamily="18" charset="0"/>
              </a:rPr>
              <a:t>MODULES DESCRIPTION</a:t>
            </a:r>
          </a:p>
          <a:p>
            <a:r>
              <a:rPr lang="en-GB" sz="3300" dirty="0" smtClean="0">
                <a:solidFill>
                  <a:srgbClr val="FF6600"/>
                </a:solidFill>
                <a:latin typeface="Calisto MT" pitchFamily="18" charset="0"/>
              </a:rPr>
              <a:t>DESIGN MODELS</a:t>
            </a:r>
          </a:p>
          <a:p>
            <a:r>
              <a:rPr lang="en-GB" sz="3300" dirty="0" smtClean="0">
                <a:solidFill>
                  <a:srgbClr val="FF6600"/>
                </a:solidFill>
                <a:latin typeface="Calisto MT" pitchFamily="18" charset="0"/>
              </a:rPr>
              <a:t>UML DIAGRAMS</a:t>
            </a:r>
          </a:p>
          <a:p>
            <a:r>
              <a:rPr lang="en-GB" sz="3300" dirty="0" smtClean="0">
                <a:solidFill>
                  <a:srgbClr val="FF6600"/>
                </a:solidFill>
                <a:latin typeface="Calisto MT" pitchFamily="18" charset="0"/>
              </a:rPr>
              <a:t>IMPLEMENTATION</a:t>
            </a:r>
          </a:p>
          <a:p>
            <a:r>
              <a:rPr lang="en-GB" sz="3300" dirty="0" smtClean="0">
                <a:solidFill>
                  <a:srgbClr val="FF6600"/>
                </a:solidFill>
                <a:latin typeface="Calisto MT" pitchFamily="18" charset="0"/>
              </a:rPr>
              <a:t>TECHNOLOGIES</a:t>
            </a:r>
          </a:p>
          <a:p>
            <a:r>
              <a:rPr lang="en-GB" sz="3300" dirty="0" smtClean="0">
                <a:solidFill>
                  <a:srgbClr val="FF6600"/>
                </a:solidFill>
                <a:latin typeface="Calisto MT" pitchFamily="18" charset="0"/>
              </a:rPr>
              <a:t>TESTING</a:t>
            </a:r>
          </a:p>
          <a:p>
            <a:r>
              <a:rPr lang="en-GB" sz="3300" dirty="0" smtClean="0">
                <a:solidFill>
                  <a:srgbClr val="FF6600"/>
                </a:solidFill>
                <a:latin typeface="Calisto MT" pitchFamily="18" charset="0"/>
              </a:rPr>
              <a:t>RESULTS</a:t>
            </a:r>
          </a:p>
          <a:p>
            <a:r>
              <a:rPr lang="en-GB" sz="3300" dirty="0" smtClean="0">
                <a:solidFill>
                  <a:srgbClr val="FF6600"/>
                </a:solidFill>
                <a:latin typeface="Calisto MT" pitchFamily="18" charset="0"/>
              </a:rPr>
              <a:t>CONCLUSION</a:t>
            </a:r>
          </a:p>
          <a:p>
            <a:r>
              <a:rPr lang="en-GB" sz="3300" dirty="0" smtClean="0">
                <a:solidFill>
                  <a:srgbClr val="FF6600"/>
                </a:solidFill>
                <a:latin typeface="Calisto MT" pitchFamily="18" charset="0"/>
              </a:rPr>
              <a:t>FUTURE ENHANCEMENTS</a:t>
            </a:r>
          </a:p>
          <a:p>
            <a:r>
              <a:rPr lang="en-GB" sz="3300" dirty="0" smtClean="0">
                <a:solidFill>
                  <a:srgbClr val="FF6600"/>
                </a:solidFill>
                <a:latin typeface="Calisto MT" pitchFamily="18" charset="0"/>
              </a:rPr>
              <a:t>REFERENCES</a:t>
            </a:r>
          </a:p>
          <a:p>
            <a:r>
              <a:rPr lang="en-GB" sz="3300" dirty="0" smtClean="0">
                <a:solidFill>
                  <a:srgbClr val="FF6600"/>
                </a:solidFill>
                <a:latin typeface="Calisto MT" pitchFamily="18" charset="0"/>
              </a:rPr>
              <a:t>BIBLIOGRAPHY</a:t>
            </a:r>
          </a:p>
          <a:p>
            <a:endParaRPr lang="en-GB" sz="2400" dirty="0" smtClean="0">
              <a:solidFill>
                <a:srgbClr val="FF6600"/>
              </a:solidFill>
              <a:latin typeface="Calisto MT" pitchFamily="18" charset="0"/>
            </a:endParaRPr>
          </a:p>
          <a:p>
            <a:endParaRPr lang="en-GB" sz="2400" dirty="0" smtClean="0">
              <a:solidFill>
                <a:srgbClr val="FF6600"/>
              </a:solidFill>
              <a:latin typeface="Calisto MT" pitchFamily="18" charset="0"/>
            </a:endParaRPr>
          </a:p>
          <a:p>
            <a:endParaRPr lang="en-GB" dirty="0" smtClean="0">
              <a:solidFill>
                <a:srgbClr val="FF6600"/>
              </a:solidFill>
              <a:latin typeface="Calisto MT" pitchFamily="18" charset="0"/>
            </a:endParaRPr>
          </a:p>
          <a:p>
            <a:endParaRPr lang="en-US" dirty="0"/>
          </a:p>
        </p:txBody>
      </p:sp>
      <p:sp>
        <p:nvSpPr>
          <p:cNvPr id="4" name="Footer Placeholder 3"/>
          <p:cNvSpPr>
            <a:spLocks noGrp="1"/>
          </p:cNvSpPr>
          <p:nvPr>
            <p:ph type="ftr" sz="quarter" idx="11"/>
          </p:nvPr>
        </p:nvSpPr>
        <p:spPr/>
        <p:txBody>
          <a:bodyPr/>
          <a:lstStyle/>
          <a:p>
            <a:r>
              <a:rPr lang="en-US" dirty="0" smtClean="0"/>
              <a:t>TITLE OF THE PROJECT</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4000" b="1" dirty="0" smtClean="0">
                <a:solidFill>
                  <a:srgbClr val="FF6600"/>
                </a:solidFill>
                <a:latin typeface="Calisto MT" pitchFamily="18" charset="0"/>
              </a:rPr>
              <a:t>ABSTRACT</a:t>
            </a:r>
            <a:endParaRPr lang="en-GB" sz="4000" b="1" dirty="0">
              <a:solidFill>
                <a:srgbClr val="FF6600"/>
              </a:solidFill>
              <a:latin typeface="Calisto MT" pitchFamily="18" charset="0"/>
            </a:endParaRPr>
          </a:p>
        </p:txBody>
      </p:sp>
      <p:sp>
        <p:nvSpPr>
          <p:cNvPr id="3" name="Content Placeholder 2"/>
          <p:cNvSpPr>
            <a:spLocks noGrp="1"/>
          </p:cNvSpPr>
          <p:nvPr>
            <p:ph idx="1"/>
          </p:nvPr>
        </p:nvSpPr>
        <p:spPr/>
        <p:txBody>
          <a:bodyPr>
            <a:normAutofit fontScale="47500" lnSpcReduction="20000"/>
          </a:bodyPr>
          <a:lstStyle/>
          <a:p>
            <a:pPr algn="just"/>
            <a:r>
              <a:rPr lang="en-US" dirty="0" smtClean="0"/>
              <a:t>In order to prevent the spread of CORONA virus, everyone must wear a mask during the pandemic. In these tough times of COVID-19 it is necessary to build a model that detects people with and without mask in real-time as it works as a simple precautionary measure to prevent the spread of virus. If deployed correctly, this machine learning technique helps in simplifying the work of frontline warriors and saving their lives.</a:t>
            </a:r>
          </a:p>
          <a:p>
            <a:pPr algn="just"/>
            <a:r>
              <a:rPr lang="en-US" dirty="0" smtClean="0"/>
              <a:t> A basic Convolutional Neural Network (CNN) model is built using TensorFlow, Keras, Scikit-learn and OpenCV to make the algorithm as accurate as possible.</a:t>
            </a:r>
          </a:p>
          <a:p>
            <a:pPr algn="just"/>
            <a:r>
              <a:rPr lang="en-US" dirty="0" smtClean="0"/>
              <a:t> Javascript API helps in accessing webcam for real-time face mask detection. Since Google Colab runs on web browser it can’t access local hardware like a camera without APIs. </a:t>
            </a:r>
          </a:p>
          <a:p>
            <a:pPr algn="just"/>
            <a:r>
              <a:rPr lang="en-US" dirty="0" smtClean="0"/>
              <a:t>The proposed work contains three stages: (i) pre-processing, (ii) Training a CNN and (iii) Real-time classification. The first part is the Pre-processing section, which can be divided into “Grayscale Conversion” of RGB image, ”image resizing and normalization” to avoid false predictions.</a:t>
            </a:r>
          </a:p>
          <a:p>
            <a:pPr algn="just"/>
            <a:r>
              <a:rPr lang="en-US" dirty="0" smtClean="0"/>
              <a:t> Then the proposed CNN, classifies faces with and without masks as the output layer of proposed CNN architecture contains two neurons with Softmax activation to classify the same.</a:t>
            </a:r>
          </a:p>
          <a:p>
            <a:pPr algn="just"/>
            <a:r>
              <a:rPr lang="en-US" dirty="0" smtClean="0"/>
              <a:t> Categorical cross-entropy is employed as loss function. </a:t>
            </a:r>
          </a:p>
          <a:p>
            <a:pPr algn="just"/>
            <a:r>
              <a:rPr lang="en-US" dirty="0" smtClean="0"/>
              <a:t>The proposed model has Validation accuracy of 96%. If anyone in the video stream is not wearing a protective mask a Red coloured rectangle is drawn around the face with a dialog entitled as NO MASK and a Green coloured rectangle is drawn around the face of a person wearing MASK.</a:t>
            </a:r>
          </a:p>
          <a:p>
            <a:pPr algn="just"/>
            <a:endParaRPr lang="en-GB" dirty="0">
              <a:latin typeface="Calisto MT" pitchFamily="18" charset="0"/>
            </a:endParaRPr>
          </a:p>
        </p:txBody>
      </p:sp>
      <p:sp>
        <p:nvSpPr>
          <p:cNvPr id="4" name="Footer Placeholder 3"/>
          <p:cNvSpPr>
            <a:spLocks noGrp="1"/>
          </p:cNvSpPr>
          <p:nvPr>
            <p:ph type="ftr" sz="quarter" idx="11"/>
          </p:nvPr>
        </p:nvSpPr>
        <p:spPr/>
        <p:txBody>
          <a:bodyPr/>
          <a:lstStyle/>
          <a:p>
            <a:r>
              <a:rPr lang="en-US" dirty="0" smtClean="0"/>
              <a:t>TITLE OF THE PROJECT</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4000" b="1" dirty="0" smtClean="0">
                <a:solidFill>
                  <a:srgbClr val="FF6600"/>
                </a:solidFill>
                <a:latin typeface="Calisto MT" pitchFamily="18" charset="0"/>
              </a:rPr>
              <a:t>LITERATURE SURVEY</a:t>
            </a:r>
            <a:endParaRPr lang="en-GB" sz="4000" b="1" dirty="0">
              <a:solidFill>
                <a:srgbClr val="FF6600"/>
              </a:solidFill>
              <a:latin typeface="Calisto MT" pitchFamily="18" charset="0"/>
            </a:endParaRPr>
          </a:p>
        </p:txBody>
      </p:sp>
      <p:sp>
        <p:nvSpPr>
          <p:cNvPr id="3" name="Content Placeholder 2"/>
          <p:cNvSpPr>
            <a:spLocks noGrp="1"/>
          </p:cNvSpPr>
          <p:nvPr>
            <p:ph idx="1"/>
          </p:nvPr>
        </p:nvSpPr>
        <p:spPr/>
        <p:txBody>
          <a:bodyPr>
            <a:normAutofit fontScale="47500" lnSpcReduction="20000"/>
          </a:bodyPr>
          <a:lstStyle/>
          <a:p>
            <a:pPr>
              <a:buNone/>
            </a:pPr>
            <a:r>
              <a:rPr lang="en-US" b="1" dirty="0" smtClean="0"/>
              <a:t>Detecting Masked Faces in the Wild with LLE-CNNs</a:t>
            </a:r>
            <a:endParaRPr lang="en-US" dirty="0" smtClean="0"/>
          </a:p>
          <a:p>
            <a:pPr>
              <a:buNone/>
            </a:pPr>
            <a:r>
              <a:rPr lang="en-US" b="1" dirty="0" smtClean="0"/>
              <a:t> AUTHORS: </a:t>
            </a:r>
            <a:r>
              <a:rPr lang="en-US" dirty="0" smtClean="0"/>
              <a:t> </a:t>
            </a:r>
            <a:r>
              <a:rPr lang="en-US" dirty="0" err="1" smtClean="0"/>
              <a:t>Shiming</a:t>
            </a:r>
            <a:r>
              <a:rPr lang="en-US" dirty="0" smtClean="0"/>
              <a:t> </a:t>
            </a:r>
            <a:r>
              <a:rPr lang="en-US" dirty="0" err="1" smtClean="0"/>
              <a:t>Ge,Jia</a:t>
            </a:r>
            <a:r>
              <a:rPr lang="en-US" dirty="0" smtClean="0"/>
              <a:t> </a:t>
            </a:r>
            <a:r>
              <a:rPr lang="en-US" dirty="0" err="1" smtClean="0"/>
              <a:t>Li,Qiting</a:t>
            </a:r>
            <a:r>
              <a:rPr lang="en-US" dirty="0" smtClean="0"/>
              <a:t> </a:t>
            </a:r>
            <a:r>
              <a:rPr lang="en-US" dirty="0" err="1" smtClean="0"/>
              <a:t>Ye,Zhao</a:t>
            </a:r>
            <a:r>
              <a:rPr lang="en-US" dirty="0" smtClean="0"/>
              <a:t> </a:t>
            </a:r>
            <a:r>
              <a:rPr lang="en-US" dirty="0" err="1" smtClean="0"/>
              <a:t>Luo</a:t>
            </a:r>
            <a:endParaRPr lang="en-US" dirty="0" smtClean="0"/>
          </a:p>
          <a:p>
            <a:pPr algn="just">
              <a:buNone/>
            </a:pPr>
            <a:r>
              <a:rPr lang="en-US" b="1" dirty="0" smtClean="0"/>
              <a:t>ABSTRACT:</a:t>
            </a:r>
            <a:r>
              <a:rPr lang="en-US" dirty="0" smtClean="0"/>
              <a:t> </a:t>
            </a:r>
            <a:endParaRPr lang="en-US" dirty="0" smtClean="0"/>
          </a:p>
          <a:p>
            <a:pPr algn="just">
              <a:buNone/>
            </a:pPr>
            <a:r>
              <a:rPr lang="en-US" dirty="0" smtClean="0"/>
              <a:t>Detecting </a:t>
            </a:r>
            <a:r>
              <a:rPr lang="en-US" dirty="0" smtClean="0"/>
              <a:t>faces with occlusions is a challenging task due to two main reasons</a:t>
            </a:r>
            <a:r>
              <a:rPr lang="en-US" dirty="0" smtClean="0"/>
              <a:t>:</a:t>
            </a:r>
          </a:p>
          <a:p>
            <a:pPr algn="just">
              <a:buNone/>
            </a:pPr>
            <a:r>
              <a:rPr lang="en-US" dirty="0" smtClean="0"/>
              <a:t> </a:t>
            </a:r>
            <a:r>
              <a:rPr lang="en-US" dirty="0" smtClean="0"/>
              <a:t>1) </a:t>
            </a:r>
            <a:r>
              <a:rPr lang="en-US" dirty="0" smtClean="0"/>
              <a:t>The </a:t>
            </a:r>
            <a:r>
              <a:rPr lang="en-US" dirty="0" smtClean="0"/>
              <a:t>absence of large datasets of masked faces, and </a:t>
            </a:r>
            <a:endParaRPr lang="en-US" dirty="0" smtClean="0"/>
          </a:p>
          <a:p>
            <a:pPr algn="just">
              <a:buNone/>
            </a:pPr>
            <a:r>
              <a:rPr lang="en-US" dirty="0" smtClean="0"/>
              <a:t>2</a:t>
            </a:r>
            <a:r>
              <a:rPr lang="en-US" dirty="0" smtClean="0"/>
              <a:t>) </a:t>
            </a:r>
            <a:r>
              <a:rPr lang="en-US" dirty="0" smtClean="0"/>
              <a:t>The </a:t>
            </a:r>
            <a:r>
              <a:rPr lang="en-US" dirty="0" smtClean="0"/>
              <a:t>absence of facial cues from the masked regions. To address these two issues, this paper first introduces a dataset, denoted as MAFA, with 30, 811 Internet images and 35, 806 masked faces. </a:t>
            </a:r>
            <a:endParaRPr lang="en-US" dirty="0" smtClean="0"/>
          </a:p>
          <a:p>
            <a:pPr algn="just"/>
            <a:r>
              <a:rPr lang="en-US" dirty="0" smtClean="0"/>
              <a:t>Faces </a:t>
            </a:r>
            <a:r>
              <a:rPr lang="en-US" dirty="0" smtClean="0"/>
              <a:t>in the dataset have various orientations and occlusion degrees, while at least one part of each face is occluded by mask. Based on this dataset, we further propose LLE-CNNs for masked face detection, which consist of three major modules. </a:t>
            </a:r>
            <a:endParaRPr lang="en-US" dirty="0" smtClean="0"/>
          </a:p>
          <a:p>
            <a:pPr algn="just"/>
            <a:r>
              <a:rPr lang="en-US" dirty="0" smtClean="0"/>
              <a:t>The </a:t>
            </a:r>
            <a:r>
              <a:rPr lang="en-US" dirty="0" smtClean="0"/>
              <a:t>Proposal module first combines two pre-trained CNNs to extract candidate facial regions from the input image and represent them with high dimensional descriptors</a:t>
            </a:r>
            <a:r>
              <a:rPr lang="en-US" dirty="0" smtClean="0"/>
              <a:t>.</a:t>
            </a:r>
          </a:p>
          <a:p>
            <a:pPr algn="just"/>
            <a:r>
              <a:rPr lang="en-US" dirty="0" smtClean="0"/>
              <a:t> </a:t>
            </a:r>
            <a:r>
              <a:rPr lang="en-US" dirty="0" smtClean="0"/>
              <a:t>After that, the Embedding module is incorporated to turn such descriptors into a similarity-based descriptor by using locally linear embedding (LLE) algorithm and the dictionaries trained on a large pool of synthesized normal faces, masked faces and non-faces</a:t>
            </a:r>
            <a:r>
              <a:rPr lang="en-US" dirty="0" smtClean="0"/>
              <a:t>.</a:t>
            </a:r>
          </a:p>
          <a:p>
            <a:pPr algn="just"/>
            <a:r>
              <a:rPr lang="en-US" dirty="0" smtClean="0"/>
              <a:t> </a:t>
            </a:r>
            <a:r>
              <a:rPr lang="en-US" dirty="0" smtClean="0"/>
              <a:t>In this manner, many missing facial cues can be largely recovered and the influences of noisy cues introduced by diversified masks can be greatly alleviated. </a:t>
            </a:r>
            <a:endParaRPr lang="en-US" dirty="0" smtClean="0"/>
          </a:p>
          <a:p>
            <a:pPr algn="just"/>
            <a:r>
              <a:rPr lang="en-US" dirty="0" smtClean="0"/>
              <a:t>Finally</a:t>
            </a:r>
            <a:r>
              <a:rPr lang="en-US" dirty="0" smtClean="0"/>
              <a:t>, the Verification module is incorporated to identify candidate facial regions and refine their positions by jointly performing the classification and regression tasks within a unified CNN. Experimental results on the MAFA dataset show that the proposed approach remarkably outperforms 6 state-of-the-arts by at least 15.6%.</a:t>
            </a:r>
          </a:p>
          <a:p>
            <a:endParaRPr lang="en-GB" dirty="0">
              <a:latin typeface="Calisto MT" pitchFamily="18" charset="0"/>
            </a:endParaRPr>
          </a:p>
        </p:txBody>
      </p:sp>
      <p:sp>
        <p:nvSpPr>
          <p:cNvPr id="4" name="Footer Placeholder 3"/>
          <p:cNvSpPr>
            <a:spLocks noGrp="1"/>
          </p:cNvSpPr>
          <p:nvPr>
            <p:ph type="ftr" sz="quarter" idx="11"/>
          </p:nvPr>
        </p:nvSpPr>
        <p:spPr/>
        <p:txBody>
          <a:bodyPr/>
          <a:lstStyle/>
          <a:p>
            <a:r>
              <a:rPr lang="en-US" dirty="0" smtClean="0"/>
              <a:t>TITLE OF THE PROJECT</a:t>
            </a: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4000" b="1" dirty="0" smtClean="0">
                <a:solidFill>
                  <a:srgbClr val="FF6600"/>
                </a:solidFill>
                <a:latin typeface="Calisto MT" pitchFamily="18" charset="0"/>
              </a:rPr>
              <a:t>INTRODUCTION</a:t>
            </a:r>
            <a:endParaRPr lang="en-GB" sz="4000" b="1" dirty="0">
              <a:solidFill>
                <a:srgbClr val="FF6600"/>
              </a:solidFill>
              <a:latin typeface="Calisto MT" pitchFamily="18" charset="0"/>
            </a:endParaRPr>
          </a:p>
        </p:txBody>
      </p:sp>
      <p:sp>
        <p:nvSpPr>
          <p:cNvPr id="3" name="Content Placeholder 2"/>
          <p:cNvSpPr>
            <a:spLocks noGrp="1"/>
          </p:cNvSpPr>
          <p:nvPr>
            <p:ph idx="1"/>
          </p:nvPr>
        </p:nvSpPr>
        <p:spPr/>
        <p:txBody>
          <a:bodyPr>
            <a:normAutofit fontScale="70000" lnSpcReduction="20000"/>
          </a:bodyPr>
          <a:lstStyle/>
          <a:p>
            <a:pPr>
              <a:buNone/>
            </a:pPr>
            <a:r>
              <a:rPr lang="en-GB" dirty="0" smtClean="0">
                <a:latin typeface="Calisto MT" pitchFamily="18" charset="0"/>
              </a:rPr>
              <a:t>Objective:</a:t>
            </a:r>
          </a:p>
          <a:p>
            <a:r>
              <a:rPr lang="en-US" dirty="0" smtClean="0"/>
              <a:t>This paper proposes a method to detect the face mask is put on or not for offices, or any other work place with a lot of people coming to work. We have used </a:t>
            </a:r>
            <a:r>
              <a:rPr lang="en-US" dirty="0" err="1" smtClean="0"/>
              <a:t>convolutional</a:t>
            </a:r>
            <a:r>
              <a:rPr lang="en-US" dirty="0" smtClean="0"/>
              <a:t> neural network for the same</a:t>
            </a:r>
            <a:r>
              <a:rPr lang="en-US" dirty="0" smtClean="0"/>
              <a:t>.</a:t>
            </a:r>
          </a:p>
          <a:p>
            <a:r>
              <a:rPr lang="en-US" dirty="0" smtClean="0"/>
              <a:t> </a:t>
            </a:r>
            <a:r>
              <a:rPr lang="en-US" dirty="0" smtClean="0"/>
              <a:t>The model is trained on a real world dataset and tested with live video streaming with a good accuracy. </a:t>
            </a:r>
            <a:endParaRPr lang="en-US" dirty="0" smtClean="0"/>
          </a:p>
          <a:p>
            <a:r>
              <a:rPr lang="en-US" dirty="0" smtClean="0"/>
              <a:t>Further </a:t>
            </a:r>
            <a:r>
              <a:rPr lang="en-US" dirty="0" smtClean="0"/>
              <a:t>the accuracy of the model with different hyper parameters and multiple people at different distance and location of the frame is done.</a:t>
            </a:r>
          </a:p>
          <a:p>
            <a:r>
              <a:rPr lang="en-US" dirty="0" smtClean="0"/>
              <a:t>If anyone in the video stream is not wearing a protective mask and a Red colored rectangle is drawn around the face with a dialog entitled as NO MASK. </a:t>
            </a:r>
            <a:endParaRPr lang="en-US" dirty="0" smtClean="0"/>
          </a:p>
          <a:p>
            <a:r>
              <a:rPr lang="en-US" dirty="0" smtClean="0"/>
              <a:t>Similarly </a:t>
            </a:r>
            <a:r>
              <a:rPr lang="en-US" dirty="0" smtClean="0"/>
              <a:t>a Green color rectangle is drawn around the face of a person wearing MASK.</a:t>
            </a:r>
          </a:p>
          <a:p>
            <a:endParaRPr lang="en-GB" dirty="0">
              <a:latin typeface="Calisto MT" pitchFamily="18" charset="0"/>
            </a:endParaRPr>
          </a:p>
        </p:txBody>
      </p:sp>
      <p:sp>
        <p:nvSpPr>
          <p:cNvPr id="4" name="Footer Placeholder 3"/>
          <p:cNvSpPr>
            <a:spLocks noGrp="1"/>
          </p:cNvSpPr>
          <p:nvPr>
            <p:ph type="ftr" sz="quarter" idx="11"/>
          </p:nvPr>
        </p:nvSpPr>
        <p:spPr/>
        <p:txBody>
          <a:bodyPr/>
          <a:lstStyle/>
          <a:p>
            <a:r>
              <a:rPr lang="en-US" dirty="0" smtClean="0"/>
              <a:t>TITLE OF THE PROJECT</a:t>
            </a: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4000" b="1" dirty="0" smtClean="0">
                <a:solidFill>
                  <a:srgbClr val="FF6600"/>
                </a:solidFill>
                <a:latin typeface="Calisto MT" pitchFamily="18" charset="0"/>
              </a:rPr>
              <a:t>PROBLEM STATEMENT</a:t>
            </a:r>
            <a:endParaRPr lang="en-GB" sz="4000" b="1" dirty="0">
              <a:solidFill>
                <a:srgbClr val="FF6600"/>
              </a:solidFill>
              <a:latin typeface="Calisto MT" pitchFamily="18" charset="0"/>
            </a:endParaRPr>
          </a:p>
        </p:txBody>
      </p:sp>
      <p:sp>
        <p:nvSpPr>
          <p:cNvPr id="3" name="Content Placeholder 2"/>
          <p:cNvSpPr>
            <a:spLocks noGrp="1"/>
          </p:cNvSpPr>
          <p:nvPr>
            <p:ph idx="1"/>
          </p:nvPr>
        </p:nvSpPr>
        <p:spPr/>
        <p:txBody>
          <a:bodyPr>
            <a:normAutofit fontScale="85000" lnSpcReduction="10000"/>
          </a:bodyPr>
          <a:lstStyle/>
          <a:p>
            <a:r>
              <a:rPr lang="en-US" dirty="0" smtClean="0"/>
              <a:t>Millions of people are being infected by Corona Virus throughout the world rapidly. </a:t>
            </a:r>
            <a:endParaRPr lang="en-US" dirty="0" smtClean="0"/>
          </a:p>
          <a:p>
            <a:r>
              <a:rPr lang="en-US" dirty="0" smtClean="0"/>
              <a:t>Even </a:t>
            </a:r>
            <a:r>
              <a:rPr lang="en-US" dirty="0" smtClean="0"/>
              <a:t>WHO recommends to wear a mask in public places to cut the spread of virus as it is contagious. </a:t>
            </a:r>
            <a:endParaRPr lang="en-US" dirty="0" smtClean="0"/>
          </a:p>
          <a:p>
            <a:r>
              <a:rPr lang="en-US" dirty="0" smtClean="0"/>
              <a:t>In </a:t>
            </a:r>
            <a:r>
              <a:rPr lang="en-US" dirty="0" smtClean="0"/>
              <a:t>this paper, a CNN model is proposed for face mask detection. </a:t>
            </a:r>
            <a:endParaRPr lang="en-US" dirty="0" smtClean="0"/>
          </a:p>
          <a:p>
            <a:r>
              <a:rPr lang="en-US" dirty="0" smtClean="0"/>
              <a:t>Object </a:t>
            </a:r>
            <a:r>
              <a:rPr lang="en-US" dirty="0" smtClean="0"/>
              <a:t>detection when applied on faces helps in detecting faces in the image. </a:t>
            </a:r>
            <a:endParaRPr lang="en-US" dirty="0" smtClean="0"/>
          </a:p>
          <a:p>
            <a:r>
              <a:rPr lang="en-US" dirty="0" smtClean="0"/>
              <a:t>Face </a:t>
            </a:r>
            <a:r>
              <a:rPr lang="en-US" dirty="0" smtClean="0"/>
              <a:t>mask detection refers to detecting faces in the image and then classifying each face as with mask or without mask.</a:t>
            </a:r>
          </a:p>
          <a:p>
            <a:endParaRPr lang="en-GB" dirty="0"/>
          </a:p>
        </p:txBody>
      </p:sp>
      <p:sp>
        <p:nvSpPr>
          <p:cNvPr id="4" name="Footer Placeholder 3"/>
          <p:cNvSpPr>
            <a:spLocks noGrp="1"/>
          </p:cNvSpPr>
          <p:nvPr>
            <p:ph type="ftr" sz="quarter" idx="11"/>
          </p:nvPr>
        </p:nvSpPr>
        <p:spPr/>
        <p:txBody>
          <a:bodyPr/>
          <a:lstStyle/>
          <a:p>
            <a:r>
              <a:rPr lang="en-US" dirty="0" smtClean="0"/>
              <a:t>TITLE OF THE PROJECT</a:t>
            </a: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smtClean="0">
                <a:solidFill>
                  <a:srgbClr val="FF6600"/>
                </a:solidFill>
                <a:latin typeface="Calisto MT" pitchFamily="18" charset="0"/>
              </a:rPr>
              <a:t>EXISTING SYSTEM WITH DRAWBACKS</a:t>
            </a:r>
            <a:endParaRPr lang="en-GB" b="1" dirty="0">
              <a:solidFill>
                <a:srgbClr val="FF6600"/>
              </a:solidFill>
              <a:latin typeface="Calisto MT" pitchFamily="18" charset="0"/>
            </a:endParaRPr>
          </a:p>
        </p:txBody>
      </p:sp>
      <p:sp>
        <p:nvSpPr>
          <p:cNvPr id="3" name="Content Placeholder 2"/>
          <p:cNvSpPr>
            <a:spLocks noGrp="1"/>
          </p:cNvSpPr>
          <p:nvPr>
            <p:ph idx="1"/>
          </p:nvPr>
        </p:nvSpPr>
        <p:spPr/>
        <p:txBody>
          <a:bodyPr>
            <a:normAutofit fontScale="55000" lnSpcReduction="20000"/>
          </a:bodyPr>
          <a:lstStyle/>
          <a:p>
            <a:r>
              <a:rPr lang="en-US" dirty="0" smtClean="0"/>
              <a:t>Government and Public health agencies are recommending face mask as essential measures to keep us safe when venturing into public. </a:t>
            </a:r>
            <a:endParaRPr lang="en-US" dirty="0" smtClean="0"/>
          </a:p>
          <a:p>
            <a:r>
              <a:rPr lang="en-US" dirty="0" smtClean="0"/>
              <a:t>To </a:t>
            </a:r>
            <a:r>
              <a:rPr lang="en-US" dirty="0" smtClean="0"/>
              <a:t>mandate the use of facemask, it becomes essential to devise some technique that enforce individuals to apply a mask before exposure to public places. </a:t>
            </a:r>
            <a:endParaRPr lang="en-US" dirty="0" smtClean="0"/>
          </a:p>
          <a:p>
            <a:r>
              <a:rPr lang="en-US" dirty="0" smtClean="0"/>
              <a:t>Face </a:t>
            </a:r>
            <a:r>
              <a:rPr lang="en-US" dirty="0" smtClean="0"/>
              <a:t>mask detection refers to detect whether a person is wearing a mask or not. </a:t>
            </a:r>
            <a:endParaRPr lang="en-US" dirty="0" smtClean="0"/>
          </a:p>
          <a:p>
            <a:r>
              <a:rPr lang="en-US" dirty="0" smtClean="0"/>
              <a:t>In </a:t>
            </a:r>
            <a:r>
              <a:rPr lang="en-US" dirty="0" smtClean="0"/>
              <a:t>fact, the problem is reverse engineering of face detection where the face is detected using different machine learning algorithms for the purpose of security, authentication and surveillance</a:t>
            </a:r>
            <a:r>
              <a:rPr lang="en-US" dirty="0" smtClean="0"/>
              <a:t>.</a:t>
            </a:r>
          </a:p>
          <a:p>
            <a:r>
              <a:rPr lang="en-US" dirty="0" smtClean="0"/>
              <a:t> </a:t>
            </a:r>
            <a:r>
              <a:rPr lang="en-US" dirty="0" smtClean="0"/>
              <a:t>Face detection is a key area in the field of Computer Vision and Pattern Recognition. A significant body of research has contributed sophisticated to algorithms for face detection in past.</a:t>
            </a:r>
          </a:p>
          <a:p>
            <a:pPr>
              <a:buNone/>
            </a:pPr>
            <a:r>
              <a:rPr lang="en-US" b="1" dirty="0" smtClean="0"/>
              <a:t>DRAWBACKS:  </a:t>
            </a:r>
            <a:endParaRPr lang="en-US" dirty="0" smtClean="0"/>
          </a:p>
          <a:p>
            <a:pPr>
              <a:buNone/>
            </a:pPr>
            <a:r>
              <a:rPr lang="en-US" b="1" dirty="0" smtClean="0"/>
              <a:t> </a:t>
            </a:r>
            <a:endParaRPr lang="en-US" dirty="0" smtClean="0"/>
          </a:p>
          <a:p>
            <a:pPr>
              <a:buNone/>
            </a:pPr>
            <a:r>
              <a:rPr lang="en-US" b="1" dirty="0" smtClean="0"/>
              <a:t>1.</a:t>
            </a:r>
            <a:r>
              <a:rPr lang="en-US" dirty="0" smtClean="0"/>
              <a:t>It is difficult to handle person to identify person with mask or without mask in surveillance.</a:t>
            </a:r>
          </a:p>
          <a:p>
            <a:endParaRPr lang="en-GB" dirty="0"/>
          </a:p>
        </p:txBody>
      </p:sp>
      <p:sp>
        <p:nvSpPr>
          <p:cNvPr id="4" name="Footer Placeholder 3"/>
          <p:cNvSpPr>
            <a:spLocks noGrp="1"/>
          </p:cNvSpPr>
          <p:nvPr>
            <p:ph type="ftr" sz="quarter" idx="11"/>
          </p:nvPr>
        </p:nvSpPr>
        <p:spPr/>
        <p:txBody>
          <a:bodyPr/>
          <a:lstStyle/>
          <a:p>
            <a:r>
              <a:rPr lang="en-US" dirty="0" smtClean="0"/>
              <a:t>TITLE OF THE PROJECT</a:t>
            </a: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smtClean="0">
                <a:solidFill>
                  <a:srgbClr val="FF6600"/>
                </a:solidFill>
                <a:latin typeface="Calisto MT" pitchFamily="18" charset="0"/>
              </a:rPr>
              <a:t>PROPOSED SYSTEM WITH ADVANTAGES</a:t>
            </a:r>
            <a:endParaRPr lang="en-GB" b="1" dirty="0">
              <a:solidFill>
                <a:srgbClr val="FF6600"/>
              </a:solidFill>
              <a:latin typeface="Calisto MT" pitchFamily="18" charset="0"/>
            </a:endParaRPr>
          </a:p>
        </p:txBody>
      </p:sp>
      <p:sp>
        <p:nvSpPr>
          <p:cNvPr id="3" name="Content Placeholder 2"/>
          <p:cNvSpPr>
            <a:spLocks noGrp="1"/>
          </p:cNvSpPr>
          <p:nvPr>
            <p:ph idx="1"/>
          </p:nvPr>
        </p:nvSpPr>
        <p:spPr/>
        <p:txBody>
          <a:bodyPr>
            <a:normAutofit fontScale="55000" lnSpcReduction="20000"/>
          </a:bodyPr>
          <a:lstStyle/>
          <a:p>
            <a:r>
              <a:rPr lang="en-US" dirty="0" smtClean="0"/>
              <a:t>The proposed CNN, classifies faces with and without masks as the output </a:t>
            </a:r>
            <a:r>
              <a:rPr lang="en-US" dirty="0" smtClean="0"/>
              <a:t>layer </a:t>
            </a:r>
            <a:r>
              <a:rPr lang="en-US" dirty="0" smtClean="0"/>
              <a:t>of proposed CNN architecture contains two neurons with Softmax activation to classify the same. </a:t>
            </a:r>
            <a:endParaRPr lang="en-US" dirty="0" smtClean="0"/>
          </a:p>
          <a:p>
            <a:r>
              <a:rPr lang="en-US" dirty="0" smtClean="0"/>
              <a:t>Categorical </a:t>
            </a:r>
            <a:r>
              <a:rPr lang="en-US" dirty="0" smtClean="0"/>
              <a:t>cross-entropy is employed as loss function. </a:t>
            </a:r>
            <a:endParaRPr lang="en-US" dirty="0" smtClean="0"/>
          </a:p>
          <a:p>
            <a:r>
              <a:rPr lang="en-US" dirty="0" smtClean="0"/>
              <a:t>The </a:t>
            </a:r>
            <a:r>
              <a:rPr lang="en-US" dirty="0" smtClean="0"/>
              <a:t>proposed model has Validation accuracy of 96%. </a:t>
            </a:r>
            <a:endParaRPr lang="en-US" dirty="0" smtClean="0"/>
          </a:p>
          <a:p>
            <a:r>
              <a:rPr lang="en-US" dirty="0" smtClean="0"/>
              <a:t>If </a:t>
            </a:r>
            <a:r>
              <a:rPr lang="en-US" dirty="0" smtClean="0"/>
              <a:t>anyone in the video stream is not wearing a protective mask a Red coloured rectangle is drawn around the face with a dialog entitled as NO MASK and a Green coloured rectangle is drawn around the face of a person wearing MASK.</a:t>
            </a:r>
          </a:p>
          <a:p>
            <a:pPr>
              <a:buNone/>
            </a:pPr>
            <a:r>
              <a:rPr lang="en-US" b="1" dirty="0" smtClean="0"/>
              <a:t> </a:t>
            </a:r>
            <a:endParaRPr lang="en-US" dirty="0" smtClean="0"/>
          </a:p>
          <a:p>
            <a:pPr>
              <a:buNone/>
            </a:pPr>
            <a:r>
              <a:rPr lang="en-US" b="1" dirty="0" smtClean="0"/>
              <a:t> </a:t>
            </a:r>
            <a:endParaRPr lang="en-US" dirty="0" smtClean="0"/>
          </a:p>
          <a:p>
            <a:pPr>
              <a:buNone/>
            </a:pPr>
            <a:r>
              <a:rPr lang="en-US" b="1" dirty="0" smtClean="0"/>
              <a:t>ADVANTAGES</a:t>
            </a:r>
            <a:r>
              <a:rPr lang="en-US" b="1" dirty="0" smtClean="0"/>
              <a:t>:	</a:t>
            </a:r>
            <a:endParaRPr lang="en-US" dirty="0" smtClean="0"/>
          </a:p>
          <a:p>
            <a:pPr>
              <a:buNone/>
            </a:pPr>
            <a:r>
              <a:rPr lang="en-US" dirty="0" smtClean="0"/>
              <a:t>1.The proposed model has Validation accuracy of 96%. If anyone in the video stream is not wearing a protective mask a Red coloured rectangle is drawn around the face with a dialog entitled as NO MASK and a Green coloured rectangle is drawn around the face of a person wearing MASK.</a:t>
            </a:r>
          </a:p>
          <a:p>
            <a:pPr>
              <a:buNone/>
            </a:pPr>
            <a:r>
              <a:rPr lang="en-US" dirty="0" smtClean="0"/>
              <a:t> </a:t>
            </a:r>
          </a:p>
          <a:p>
            <a:endParaRPr lang="en-GB" dirty="0"/>
          </a:p>
        </p:txBody>
      </p:sp>
      <p:sp>
        <p:nvSpPr>
          <p:cNvPr id="4" name="Footer Placeholder 3"/>
          <p:cNvSpPr>
            <a:spLocks noGrp="1"/>
          </p:cNvSpPr>
          <p:nvPr>
            <p:ph type="ftr" sz="quarter" idx="11"/>
          </p:nvPr>
        </p:nvSpPr>
        <p:spPr/>
        <p:txBody>
          <a:bodyPr/>
          <a:lstStyle/>
          <a:p>
            <a:r>
              <a:rPr lang="en-US" dirty="0" smtClean="0"/>
              <a:t>TITLE OF THE PROJECT</a:t>
            </a: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4000" b="1" dirty="0" smtClean="0">
                <a:solidFill>
                  <a:srgbClr val="FF6600"/>
                </a:solidFill>
                <a:latin typeface="Calisto MT" pitchFamily="18" charset="0"/>
              </a:rPr>
              <a:t>SYSTEM REQUIREMENTS</a:t>
            </a:r>
            <a:endParaRPr lang="en-GB" sz="4000" b="1" dirty="0">
              <a:solidFill>
                <a:srgbClr val="FF6600"/>
              </a:solidFill>
              <a:latin typeface="Calisto MT" pitchFamily="18" charset="0"/>
            </a:endParaRPr>
          </a:p>
        </p:txBody>
      </p:sp>
      <p:sp>
        <p:nvSpPr>
          <p:cNvPr id="3" name="Content Placeholder 2"/>
          <p:cNvSpPr>
            <a:spLocks noGrp="1"/>
          </p:cNvSpPr>
          <p:nvPr>
            <p:ph idx="1"/>
          </p:nvPr>
        </p:nvSpPr>
        <p:spPr/>
        <p:txBody>
          <a:bodyPr>
            <a:normAutofit fontScale="62500" lnSpcReduction="20000"/>
          </a:bodyPr>
          <a:lstStyle/>
          <a:p>
            <a:pPr>
              <a:buNone/>
            </a:pPr>
            <a:endParaRPr lang="en-GB" dirty="0" smtClean="0">
              <a:latin typeface="Calisto MT" pitchFamily="18" charset="0"/>
            </a:endParaRPr>
          </a:p>
          <a:p>
            <a:pPr>
              <a:buNone/>
            </a:pPr>
            <a:r>
              <a:rPr lang="en-US" b="1" dirty="0" smtClean="0"/>
              <a:t>HARDWARE REQUIREMENTS :</a:t>
            </a:r>
            <a:endParaRPr lang="en-US" dirty="0" smtClean="0"/>
          </a:p>
          <a:p>
            <a:pPr>
              <a:buNone/>
            </a:pPr>
            <a:r>
              <a:rPr lang="en-US" dirty="0" smtClean="0"/>
              <a:t>	   </a:t>
            </a:r>
          </a:p>
          <a:p>
            <a:pPr lvl="0">
              <a:buNone/>
            </a:pPr>
            <a:r>
              <a:rPr lang="en-GB" dirty="0" smtClean="0"/>
              <a:t>System		 : Pentium IV 2.4 GHz.</a:t>
            </a:r>
            <a:endParaRPr lang="en-US" dirty="0" smtClean="0"/>
          </a:p>
          <a:p>
            <a:pPr lvl="0">
              <a:buNone/>
            </a:pPr>
            <a:r>
              <a:rPr lang="en-GB" dirty="0" smtClean="0"/>
              <a:t>Hard Disk        	: 40 GB.</a:t>
            </a:r>
            <a:endParaRPr lang="en-US" dirty="0" smtClean="0"/>
          </a:p>
          <a:p>
            <a:pPr lvl="0">
              <a:buNone/>
            </a:pPr>
            <a:r>
              <a:rPr lang="en-GB" dirty="0" smtClean="0"/>
              <a:t>Floppy Drive	: 1.44 Mb.</a:t>
            </a:r>
            <a:endParaRPr lang="en-US" dirty="0" smtClean="0"/>
          </a:p>
          <a:p>
            <a:pPr lvl="0">
              <a:buNone/>
            </a:pPr>
            <a:r>
              <a:rPr lang="en-GB" dirty="0" smtClean="0"/>
              <a:t>Monitor		: 15 VGA Colour.</a:t>
            </a:r>
            <a:endParaRPr lang="en-US" dirty="0" smtClean="0"/>
          </a:p>
          <a:p>
            <a:pPr lvl="0">
              <a:buNone/>
            </a:pPr>
            <a:r>
              <a:rPr lang="en-GB" dirty="0" smtClean="0"/>
              <a:t>Mouse		: Logitech.</a:t>
            </a:r>
            <a:endParaRPr lang="en-US" dirty="0" smtClean="0"/>
          </a:p>
          <a:p>
            <a:pPr lvl="0">
              <a:buNone/>
            </a:pPr>
            <a:r>
              <a:rPr lang="en-GB" dirty="0" smtClean="0"/>
              <a:t>Ram			: 512 Mb.</a:t>
            </a:r>
            <a:endParaRPr lang="en-US" dirty="0" smtClean="0"/>
          </a:p>
          <a:p>
            <a:pPr>
              <a:buNone/>
            </a:pPr>
            <a:r>
              <a:rPr lang="en-US" b="1" dirty="0" smtClean="0"/>
              <a:t> </a:t>
            </a:r>
            <a:endParaRPr lang="en-US" dirty="0" smtClean="0"/>
          </a:p>
          <a:p>
            <a:pPr>
              <a:buNone/>
            </a:pPr>
            <a:r>
              <a:rPr lang="en-US" b="1" dirty="0" smtClean="0"/>
              <a:t>SOFTWARE REQUIREMENTS:</a:t>
            </a:r>
            <a:endParaRPr lang="en-US" dirty="0" smtClean="0"/>
          </a:p>
          <a:p>
            <a:pPr>
              <a:buNone/>
            </a:pPr>
            <a:r>
              <a:rPr lang="en-US" b="1" dirty="0" smtClean="0"/>
              <a:t> </a:t>
            </a:r>
            <a:endParaRPr lang="en-US" dirty="0" smtClean="0"/>
          </a:p>
          <a:p>
            <a:pPr lvl="0">
              <a:buNone/>
            </a:pPr>
            <a:r>
              <a:rPr lang="en-US" b="1" dirty="0" smtClean="0"/>
              <a:t>Operating System: </a:t>
            </a:r>
            <a:r>
              <a:rPr lang="en-US" dirty="0" smtClean="0"/>
              <a:t>Windows</a:t>
            </a:r>
          </a:p>
          <a:p>
            <a:pPr lvl="0">
              <a:buNone/>
            </a:pPr>
            <a:r>
              <a:rPr lang="en-US" b="1" dirty="0" smtClean="0"/>
              <a:t>Coding Language</a:t>
            </a:r>
            <a:r>
              <a:rPr lang="en-US" dirty="0" smtClean="0"/>
              <a:t>:  Python 3.7 </a:t>
            </a:r>
          </a:p>
          <a:p>
            <a:endParaRPr lang="en-GB" dirty="0" smtClean="0">
              <a:latin typeface="Calisto MT" pitchFamily="18" charset="0"/>
            </a:endParaRPr>
          </a:p>
          <a:p>
            <a:pPr>
              <a:buNone/>
            </a:pPr>
            <a:endParaRPr lang="en-GB" dirty="0" smtClean="0">
              <a:latin typeface="Calisto MT" pitchFamily="18" charset="0"/>
            </a:endParaRPr>
          </a:p>
          <a:p>
            <a:endParaRPr lang="en-GB" dirty="0">
              <a:latin typeface="Calisto MT" pitchFamily="18" charset="0"/>
            </a:endParaRPr>
          </a:p>
        </p:txBody>
      </p:sp>
      <p:sp>
        <p:nvSpPr>
          <p:cNvPr id="4" name="Footer Placeholder 3"/>
          <p:cNvSpPr>
            <a:spLocks noGrp="1"/>
          </p:cNvSpPr>
          <p:nvPr>
            <p:ph type="ftr" sz="quarter" idx="11"/>
          </p:nvPr>
        </p:nvSpPr>
        <p:spPr/>
        <p:txBody>
          <a:bodyPr/>
          <a:lstStyle/>
          <a:p>
            <a:r>
              <a:rPr lang="en-US" dirty="0" smtClean="0"/>
              <a:t>TITLE OF THE PROJECT</a:t>
            </a: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4000" b="1" dirty="0" smtClean="0">
                <a:solidFill>
                  <a:srgbClr val="FF6600"/>
                </a:solidFill>
                <a:latin typeface="Calisto MT" pitchFamily="18" charset="0"/>
              </a:rPr>
              <a:t>MODULES DESCRIPTION</a:t>
            </a:r>
            <a:endParaRPr lang="en-GB" sz="4000" b="1" dirty="0">
              <a:solidFill>
                <a:srgbClr val="FF6600"/>
              </a:solidFill>
              <a:latin typeface="Calisto MT" pitchFamily="18" charset="0"/>
            </a:endParaRPr>
          </a:p>
        </p:txBody>
      </p:sp>
      <p:sp>
        <p:nvSpPr>
          <p:cNvPr id="3" name="Content Placeholder 2"/>
          <p:cNvSpPr>
            <a:spLocks noGrp="1"/>
          </p:cNvSpPr>
          <p:nvPr>
            <p:ph idx="1"/>
          </p:nvPr>
        </p:nvSpPr>
        <p:spPr/>
        <p:txBody>
          <a:bodyPr>
            <a:normAutofit fontScale="62500" lnSpcReduction="20000"/>
          </a:bodyPr>
          <a:lstStyle/>
          <a:p>
            <a:r>
              <a:rPr lang="en-US" b="1" dirty="0" smtClean="0"/>
              <a:t>Upload Dataset</a:t>
            </a:r>
            <a:endParaRPr lang="en-US" dirty="0" smtClean="0"/>
          </a:p>
          <a:p>
            <a:pPr>
              <a:buNone/>
            </a:pPr>
            <a:r>
              <a:rPr lang="en-US" dirty="0" smtClean="0"/>
              <a:t>In this module user upload dataset.</a:t>
            </a:r>
          </a:p>
          <a:p>
            <a:r>
              <a:rPr lang="en-US" b="1" dirty="0" smtClean="0"/>
              <a:t>Build Deep Learning Classifier</a:t>
            </a:r>
            <a:endParaRPr lang="en-US" dirty="0" smtClean="0"/>
          </a:p>
          <a:p>
            <a:pPr>
              <a:buNone/>
            </a:pPr>
            <a:r>
              <a:rPr lang="en-US" dirty="0" smtClean="0"/>
              <a:t>In this module Deep learning classifier is build.</a:t>
            </a:r>
          </a:p>
          <a:p>
            <a:r>
              <a:rPr lang="en-US" b="1" dirty="0" smtClean="0"/>
              <a:t>Build Training Module</a:t>
            </a:r>
            <a:endParaRPr lang="en-US" dirty="0" smtClean="0"/>
          </a:p>
          <a:p>
            <a:pPr>
              <a:buNone/>
            </a:pPr>
            <a:r>
              <a:rPr lang="en-US" dirty="0" smtClean="0"/>
              <a:t>In this module  learning is train to detect mask</a:t>
            </a:r>
            <a:r>
              <a:rPr lang="en-US" b="1" dirty="0" smtClean="0"/>
              <a:t>.</a:t>
            </a:r>
            <a:endParaRPr lang="en-US" dirty="0" smtClean="0"/>
          </a:p>
          <a:p>
            <a:r>
              <a:rPr lang="en-US" b="1" dirty="0" smtClean="0"/>
              <a:t>Accuracy</a:t>
            </a:r>
            <a:endParaRPr lang="en-US" dirty="0" smtClean="0"/>
          </a:p>
          <a:p>
            <a:pPr>
              <a:buNone/>
            </a:pPr>
            <a:r>
              <a:rPr lang="en-US" dirty="0" smtClean="0"/>
              <a:t>In this module Accuracy of  train model is shown.</a:t>
            </a:r>
          </a:p>
          <a:p>
            <a:pPr lvl="0"/>
            <a:r>
              <a:rPr lang="en-US" b="1" dirty="0" smtClean="0"/>
              <a:t>Start Camera</a:t>
            </a:r>
            <a:endParaRPr lang="en-US" dirty="0" smtClean="0"/>
          </a:p>
          <a:p>
            <a:pPr>
              <a:buNone/>
            </a:pPr>
            <a:r>
              <a:rPr lang="en-US" dirty="0" smtClean="0"/>
              <a:t>In this module camera is started here.</a:t>
            </a:r>
          </a:p>
          <a:p>
            <a:r>
              <a:rPr lang="en-US" b="1" dirty="0" smtClean="0"/>
              <a:t>Person Recognition</a:t>
            </a:r>
            <a:endParaRPr lang="en-US" dirty="0" smtClean="0"/>
          </a:p>
          <a:p>
            <a:pPr>
              <a:buNone/>
            </a:pPr>
            <a:r>
              <a:rPr lang="en-US" dirty="0" smtClean="0"/>
              <a:t>In this module  person recognition takes place here.</a:t>
            </a:r>
          </a:p>
          <a:p>
            <a:r>
              <a:rPr lang="en-US" b="1" dirty="0" smtClean="0"/>
              <a:t>Detection  Mask Or Un Mask</a:t>
            </a:r>
            <a:endParaRPr lang="en-US" dirty="0" smtClean="0"/>
          </a:p>
          <a:p>
            <a:pPr>
              <a:buNone/>
            </a:pPr>
            <a:r>
              <a:rPr lang="en-US" dirty="0" smtClean="0"/>
              <a:t>In this module  person is  detected  with mask or not.</a:t>
            </a:r>
          </a:p>
          <a:p>
            <a:endParaRPr lang="en-GB" dirty="0">
              <a:latin typeface="Calisto MT" pitchFamily="18" charset="0"/>
            </a:endParaRPr>
          </a:p>
        </p:txBody>
      </p:sp>
      <p:sp>
        <p:nvSpPr>
          <p:cNvPr id="4" name="Footer Placeholder 3"/>
          <p:cNvSpPr>
            <a:spLocks noGrp="1"/>
          </p:cNvSpPr>
          <p:nvPr>
            <p:ph type="ftr" sz="quarter" idx="11"/>
          </p:nvPr>
        </p:nvSpPr>
        <p:spPr/>
        <p:txBody>
          <a:bodyPr/>
          <a:lstStyle/>
          <a:p>
            <a:r>
              <a:rPr lang="en-US" dirty="0" smtClean="0"/>
              <a:t>TITLE OF THE PROJECT</a:t>
            </a: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smtClean="0">
                <a:solidFill>
                  <a:srgbClr val="FF6600"/>
                </a:solidFill>
                <a:latin typeface="Calisto MT" pitchFamily="18" charset="0"/>
              </a:rPr>
              <a:t>DESIGN MODELS</a:t>
            </a:r>
            <a:endParaRPr lang="en-US" sz="4000" b="1" dirty="0">
              <a:solidFill>
                <a:srgbClr val="FF6600"/>
              </a:solidFill>
              <a:latin typeface="Calisto MT" pitchFamily="18" charset="0"/>
            </a:endParaRPr>
          </a:p>
        </p:txBody>
      </p:sp>
      <p:sp>
        <p:nvSpPr>
          <p:cNvPr id="3" name="Content Placeholder 2"/>
          <p:cNvSpPr>
            <a:spLocks noGrp="1"/>
          </p:cNvSpPr>
          <p:nvPr>
            <p:ph idx="1"/>
          </p:nvPr>
        </p:nvSpPr>
        <p:spPr/>
        <p:txBody>
          <a:bodyPr>
            <a:normAutofit fontScale="62500" lnSpcReduction="20000"/>
          </a:bodyPr>
          <a:lstStyle/>
          <a:p>
            <a:pPr>
              <a:buNone/>
            </a:pPr>
            <a:r>
              <a:rPr lang="en-US" sz="2400" dirty="0" smtClean="0">
                <a:latin typeface="Calisto MT" pitchFamily="18" charset="0"/>
              </a:rPr>
              <a:t> </a:t>
            </a:r>
            <a:r>
              <a:rPr lang="en-US" sz="2400" dirty="0" smtClean="0"/>
              <a:t>The Unified Modeling Language is a standard language for specifying, Visualization, Constructing and documenting the artifacts of software system, as well as for business modeling and other non-software systems. </a:t>
            </a:r>
          </a:p>
          <a:p>
            <a:pPr>
              <a:buNone/>
            </a:pPr>
            <a:r>
              <a:rPr lang="en-US" sz="2400" dirty="0" smtClean="0"/>
              <a:t>The UML represents a collection of best engineering practices that have proven successful in the modeling of large and complex systems.</a:t>
            </a:r>
          </a:p>
          <a:p>
            <a:pPr>
              <a:buNone/>
            </a:pPr>
            <a:r>
              <a:rPr lang="en-US" sz="2400" dirty="0" smtClean="0"/>
              <a:t> The UML is a very important part of developing objects oriented software and the software development process. The UML uses mostly graphical notations to express the design of software projects.</a:t>
            </a:r>
          </a:p>
          <a:p>
            <a:pPr>
              <a:buNone/>
            </a:pPr>
            <a:r>
              <a:rPr lang="en-US" sz="2400" dirty="0" smtClean="0"/>
              <a:t> </a:t>
            </a:r>
          </a:p>
          <a:p>
            <a:pPr>
              <a:buNone/>
            </a:pPr>
            <a:r>
              <a:rPr lang="en-US" sz="2400" b="1" dirty="0" smtClean="0"/>
              <a:t>GOALS:</a:t>
            </a:r>
            <a:endParaRPr lang="en-US" sz="2400" dirty="0" smtClean="0"/>
          </a:p>
          <a:p>
            <a:pPr>
              <a:buNone/>
            </a:pPr>
            <a:r>
              <a:rPr lang="en-US" sz="2400" dirty="0" smtClean="0"/>
              <a:t>	The Primary goals in the design of the UML are as follows:</a:t>
            </a:r>
          </a:p>
          <a:p>
            <a:pPr lvl="0">
              <a:buNone/>
            </a:pPr>
            <a:r>
              <a:rPr lang="en-US" sz="2400" dirty="0" smtClean="0"/>
              <a:t>Provide users a ready-to-use, expressive visual modeling Language so that they can develop and exchange meaningful models.</a:t>
            </a:r>
          </a:p>
          <a:p>
            <a:pPr lvl="0">
              <a:buNone/>
            </a:pPr>
            <a:r>
              <a:rPr lang="en-US" sz="2400" dirty="0" smtClean="0"/>
              <a:t>Provide extendibility and specialization mechanisms to extend the core concepts.</a:t>
            </a:r>
          </a:p>
          <a:p>
            <a:pPr lvl="0">
              <a:buNone/>
            </a:pPr>
            <a:r>
              <a:rPr lang="en-US" sz="2400" dirty="0" smtClean="0"/>
              <a:t>Be independent of particular programming languages and development process.</a:t>
            </a:r>
          </a:p>
          <a:p>
            <a:pPr lvl="0">
              <a:buNone/>
            </a:pPr>
            <a:r>
              <a:rPr lang="en-US" sz="2400" dirty="0" smtClean="0"/>
              <a:t>Provide a formal basis for understanding the modeling language.</a:t>
            </a:r>
          </a:p>
          <a:p>
            <a:pPr lvl="0">
              <a:buNone/>
            </a:pPr>
            <a:r>
              <a:rPr lang="en-US" sz="2400" dirty="0" smtClean="0"/>
              <a:t>Encourage the growth of OO tools market.</a:t>
            </a:r>
          </a:p>
          <a:p>
            <a:pPr lvl="0">
              <a:buNone/>
            </a:pPr>
            <a:r>
              <a:rPr lang="en-US" sz="2400" dirty="0" smtClean="0"/>
              <a:t>Support higher level development concepts such as collaborations, frameworks, patterns and components.</a:t>
            </a:r>
          </a:p>
          <a:p>
            <a:pPr lvl="0">
              <a:buNone/>
            </a:pPr>
            <a:r>
              <a:rPr lang="en-US" sz="2400" dirty="0" smtClean="0"/>
              <a:t>Integrate best practices.</a:t>
            </a:r>
          </a:p>
        </p:txBody>
      </p:sp>
      <p:sp>
        <p:nvSpPr>
          <p:cNvPr id="4" name="Footer Placeholder 3"/>
          <p:cNvSpPr>
            <a:spLocks noGrp="1"/>
          </p:cNvSpPr>
          <p:nvPr>
            <p:ph type="ftr" sz="quarter" idx="11"/>
          </p:nvPr>
        </p:nvSpPr>
        <p:spPr/>
        <p:txBody>
          <a:bodyPr/>
          <a:lstStyle/>
          <a:p>
            <a:r>
              <a:rPr lang="en-US" dirty="0" smtClean="0"/>
              <a:t>MY-ANURAG</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11</a:t>
            </a:fld>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4000" b="1" dirty="0" smtClean="0">
                <a:solidFill>
                  <a:srgbClr val="FF6600"/>
                </a:solidFill>
                <a:latin typeface="Calisto MT" pitchFamily="18" charset="0"/>
              </a:rPr>
              <a:t>USECASE DIAGRAM</a:t>
            </a:r>
            <a:endParaRPr lang="en-GB" sz="4000" b="1" dirty="0">
              <a:solidFill>
                <a:srgbClr val="FF6600"/>
              </a:solidFill>
              <a:latin typeface="Calisto MT" pitchFamily="18" charset="0"/>
            </a:endParaRPr>
          </a:p>
        </p:txBody>
      </p:sp>
      <p:sp>
        <p:nvSpPr>
          <p:cNvPr id="4" name="Footer Placeholder 3"/>
          <p:cNvSpPr>
            <a:spLocks noGrp="1"/>
          </p:cNvSpPr>
          <p:nvPr>
            <p:ph type="ftr" sz="quarter" idx="11"/>
          </p:nvPr>
        </p:nvSpPr>
        <p:spPr/>
        <p:txBody>
          <a:bodyPr/>
          <a:lstStyle/>
          <a:p>
            <a:r>
              <a:rPr lang="en-US" dirty="0" smtClean="0"/>
              <a:t>MY-ANURAG</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12</a:t>
            </a:fld>
            <a:endParaRPr lang="en-US" dirty="0"/>
          </a:p>
        </p:txBody>
      </p:sp>
      <p:pic>
        <p:nvPicPr>
          <p:cNvPr id="6" name="Content Placeholder 5" descr="C:\Users\GENIUS\Desktop\Smart Attendence System Using Python\UseCase.jpg"/>
          <p:cNvPicPr>
            <a:picLocks noGrp="1"/>
          </p:cNvPicPr>
          <p:nvPr>
            <p:ph idx="1"/>
          </p:nvPr>
        </p:nvPicPr>
        <p:blipFill>
          <a:blip r:embed="rId2"/>
          <a:srcRect/>
          <a:stretch>
            <a:fillRect/>
          </a:stretch>
        </p:blipFill>
        <p:spPr bwMode="auto">
          <a:xfrm>
            <a:off x="2263140" y="2278221"/>
            <a:ext cx="4617720" cy="316992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4000" b="1" dirty="0" smtClean="0">
                <a:solidFill>
                  <a:srgbClr val="FF6600"/>
                </a:solidFill>
                <a:latin typeface="Calisto MT" pitchFamily="18" charset="0"/>
              </a:rPr>
              <a:t>CLASS DIAGRAM</a:t>
            </a:r>
            <a:endParaRPr lang="en-GB" sz="4000" b="1" dirty="0">
              <a:solidFill>
                <a:srgbClr val="FF6600"/>
              </a:solidFill>
              <a:latin typeface="Calisto MT" pitchFamily="18" charset="0"/>
            </a:endParaRPr>
          </a:p>
        </p:txBody>
      </p:sp>
      <p:sp>
        <p:nvSpPr>
          <p:cNvPr id="4" name="Footer Placeholder 3"/>
          <p:cNvSpPr>
            <a:spLocks noGrp="1"/>
          </p:cNvSpPr>
          <p:nvPr>
            <p:ph type="ftr" sz="quarter" idx="11"/>
          </p:nvPr>
        </p:nvSpPr>
        <p:spPr/>
        <p:txBody>
          <a:bodyPr/>
          <a:lstStyle/>
          <a:p>
            <a:r>
              <a:rPr lang="en-US" dirty="0" smtClean="0"/>
              <a:t>MY-ANURAG</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13</a:t>
            </a:fld>
            <a:endParaRPr lang="en-US" dirty="0"/>
          </a:p>
        </p:txBody>
      </p:sp>
      <p:pic>
        <p:nvPicPr>
          <p:cNvPr id="6" name="Content Placeholder 5" descr="C:\Users\GENIUS\Desktop\Smart Attendence System Using Python\class.jpg"/>
          <p:cNvPicPr>
            <a:picLocks noGrp="1"/>
          </p:cNvPicPr>
          <p:nvPr>
            <p:ph idx="1"/>
          </p:nvPr>
        </p:nvPicPr>
        <p:blipFill>
          <a:blip r:embed="rId2"/>
          <a:srcRect/>
          <a:stretch>
            <a:fillRect/>
          </a:stretch>
        </p:blipFill>
        <p:spPr bwMode="auto">
          <a:xfrm>
            <a:off x="2078254" y="1600200"/>
            <a:ext cx="4987492" cy="452596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4000" b="1" dirty="0" smtClean="0">
                <a:solidFill>
                  <a:srgbClr val="FF6600"/>
                </a:solidFill>
                <a:latin typeface="Calisto MT" pitchFamily="18" charset="0"/>
              </a:rPr>
              <a:t>SEQUENCE DIAGRAM</a:t>
            </a:r>
            <a:endParaRPr lang="en-GB" sz="4000" b="1" dirty="0">
              <a:solidFill>
                <a:srgbClr val="FF6600"/>
              </a:solidFill>
              <a:latin typeface="Calisto MT" pitchFamily="18" charset="0"/>
            </a:endParaRPr>
          </a:p>
        </p:txBody>
      </p:sp>
      <p:sp>
        <p:nvSpPr>
          <p:cNvPr id="4" name="Footer Placeholder 3"/>
          <p:cNvSpPr>
            <a:spLocks noGrp="1"/>
          </p:cNvSpPr>
          <p:nvPr>
            <p:ph type="ftr" sz="quarter" idx="11"/>
          </p:nvPr>
        </p:nvSpPr>
        <p:spPr/>
        <p:txBody>
          <a:bodyPr/>
          <a:lstStyle/>
          <a:p>
            <a:r>
              <a:rPr lang="en-US" dirty="0" smtClean="0"/>
              <a:t>MY-ANURAG</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14</a:t>
            </a:fld>
            <a:endParaRPr lang="en-US" dirty="0"/>
          </a:p>
        </p:txBody>
      </p:sp>
      <p:pic>
        <p:nvPicPr>
          <p:cNvPr id="6" name="Content Placeholder 5" descr="C:\Users\GENIUS\Desktop\Smart Attendence System Using Python\Sequence.jpg"/>
          <p:cNvPicPr>
            <a:picLocks noGrp="1"/>
          </p:cNvPicPr>
          <p:nvPr>
            <p:ph idx="1"/>
          </p:nvPr>
        </p:nvPicPr>
        <p:blipFill>
          <a:blip r:embed="rId2"/>
          <a:srcRect/>
          <a:stretch>
            <a:fillRect/>
          </a:stretch>
        </p:blipFill>
        <p:spPr bwMode="auto">
          <a:xfrm>
            <a:off x="3211830" y="2064861"/>
            <a:ext cx="2720340" cy="359664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4000" b="1" dirty="0" smtClean="0">
                <a:solidFill>
                  <a:srgbClr val="FF6600"/>
                </a:solidFill>
                <a:latin typeface="Calisto MT" pitchFamily="18" charset="0"/>
              </a:rPr>
              <a:t>ACTIVITY DIAGRAM</a:t>
            </a:r>
            <a:endParaRPr lang="en-GB" sz="4000" b="1" dirty="0">
              <a:solidFill>
                <a:srgbClr val="FF6600"/>
              </a:solidFill>
              <a:latin typeface="Calisto MT" pitchFamily="18" charset="0"/>
            </a:endParaRPr>
          </a:p>
        </p:txBody>
      </p:sp>
      <p:sp>
        <p:nvSpPr>
          <p:cNvPr id="4" name="Footer Placeholder 3"/>
          <p:cNvSpPr>
            <a:spLocks noGrp="1"/>
          </p:cNvSpPr>
          <p:nvPr>
            <p:ph type="ftr" sz="quarter" idx="11"/>
          </p:nvPr>
        </p:nvSpPr>
        <p:spPr/>
        <p:txBody>
          <a:bodyPr/>
          <a:lstStyle/>
          <a:p>
            <a:r>
              <a:rPr lang="en-US" dirty="0" smtClean="0"/>
              <a:t>MY-ANURAG</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15</a:t>
            </a:fld>
            <a:endParaRPr lang="en-US" dirty="0"/>
          </a:p>
        </p:txBody>
      </p:sp>
      <p:pic>
        <p:nvPicPr>
          <p:cNvPr id="6" name="Content Placeholder 5" descr="C:\Users\GENIUS\Desktop\Smart Attendence System Using Python\Activity.jpg"/>
          <p:cNvPicPr>
            <a:picLocks noGrp="1"/>
          </p:cNvPicPr>
          <p:nvPr>
            <p:ph idx="1"/>
          </p:nvPr>
        </p:nvPicPr>
        <p:blipFill>
          <a:blip r:embed="rId2"/>
          <a:srcRect/>
          <a:stretch>
            <a:fillRect/>
          </a:stretch>
        </p:blipFill>
        <p:spPr bwMode="auto">
          <a:xfrm>
            <a:off x="457200" y="1936826"/>
            <a:ext cx="8229600" cy="3852711"/>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1362"/>
          </a:xfrm>
        </p:spPr>
        <p:txBody>
          <a:bodyPr>
            <a:normAutofit/>
          </a:bodyPr>
          <a:lstStyle/>
          <a:p>
            <a:r>
              <a:rPr lang="en-IN" sz="4000" b="1" dirty="0" smtClean="0">
                <a:solidFill>
                  <a:srgbClr val="FF6600"/>
                </a:solidFill>
                <a:latin typeface="Calisto MT" pitchFamily="18" charset="0"/>
              </a:rPr>
              <a:t>IMPLEMENTATION</a:t>
            </a:r>
            <a:endParaRPr lang="en-IN" sz="4000" b="1" dirty="0">
              <a:solidFill>
                <a:srgbClr val="FF6600"/>
              </a:solidFill>
              <a:latin typeface="Calisto MT" pitchFamily="18" charset="0"/>
            </a:endParaRPr>
          </a:p>
        </p:txBody>
      </p:sp>
      <p:sp>
        <p:nvSpPr>
          <p:cNvPr id="4" name="Footer Placeholder 3"/>
          <p:cNvSpPr>
            <a:spLocks noGrp="1"/>
          </p:cNvSpPr>
          <p:nvPr>
            <p:ph type="ftr" sz="quarter" idx="11"/>
          </p:nvPr>
        </p:nvSpPr>
        <p:spPr/>
        <p:txBody>
          <a:bodyPr/>
          <a:lstStyle/>
          <a:p>
            <a:r>
              <a:rPr lang="en-US" dirty="0" smtClean="0"/>
              <a:t>MY-ANURAG</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16</a:t>
            </a:fld>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4000" b="1" dirty="0" smtClean="0">
                <a:solidFill>
                  <a:srgbClr val="FF6600"/>
                </a:solidFill>
                <a:latin typeface="Calisto MT" pitchFamily="18" charset="0"/>
              </a:rPr>
              <a:t>TECHNOLOGIES</a:t>
            </a:r>
            <a:endParaRPr lang="en-GB" sz="4000" b="1" dirty="0">
              <a:solidFill>
                <a:srgbClr val="FF6600"/>
              </a:solidFill>
              <a:latin typeface="Calisto MT" pitchFamily="18" charset="0"/>
            </a:endParaRPr>
          </a:p>
        </p:txBody>
      </p:sp>
      <p:sp>
        <p:nvSpPr>
          <p:cNvPr id="3" name="Content Placeholder 2"/>
          <p:cNvSpPr>
            <a:spLocks noGrp="1"/>
          </p:cNvSpPr>
          <p:nvPr>
            <p:ph idx="1"/>
          </p:nvPr>
        </p:nvSpPr>
        <p:spPr/>
        <p:txBody>
          <a:bodyPr>
            <a:normAutofit fontScale="47500" lnSpcReduction="20000"/>
          </a:bodyPr>
          <a:lstStyle/>
          <a:p>
            <a:pPr>
              <a:buNone/>
            </a:pPr>
            <a:r>
              <a:rPr lang="en-GB" dirty="0" smtClean="0">
                <a:latin typeface="Calisto MT" pitchFamily="18" charset="0"/>
              </a:rPr>
              <a:t>Python:</a:t>
            </a:r>
          </a:p>
          <a:p>
            <a:pPr fontAlgn="base"/>
            <a:r>
              <a:rPr lang="en-US" dirty="0" smtClean="0"/>
              <a:t>Below are some facts about  Python.</a:t>
            </a:r>
          </a:p>
          <a:p>
            <a:pPr fontAlgn="base"/>
            <a:r>
              <a:rPr lang="en-US" dirty="0" smtClean="0"/>
              <a:t> Python is currently the most widely used multi-purpose, high-level programming language.</a:t>
            </a:r>
          </a:p>
          <a:p>
            <a:pPr fontAlgn="base"/>
            <a:r>
              <a:rPr lang="en-US" dirty="0" smtClean="0"/>
              <a:t> Python allows programming in Object-Oriented and Procedural paradigms. Python programs generally    are smaller than other programming languages like Java.</a:t>
            </a:r>
            <a:endParaRPr lang="en-US" sz="2800" dirty="0" smtClean="0"/>
          </a:p>
          <a:p>
            <a:pPr fontAlgn="base"/>
            <a:r>
              <a:rPr lang="en-US" dirty="0" smtClean="0"/>
              <a:t> Programmers have to type relatively less and indentation requirement of the language, makes them readable all the time.</a:t>
            </a:r>
            <a:endParaRPr lang="en-US" sz="2800" dirty="0" smtClean="0"/>
          </a:p>
          <a:p>
            <a:pPr fontAlgn="base"/>
            <a:r>
              <a:rPr lang="en-US" dirty="0" smtClean="0"/>
              <a:t>Python language is being used by almost all tech-giant companies like – Google, Amazon, Facebook, Instagram, Dropbox, Uber… etc.</a:t>
            </a:r>
            <a:endParaRPr lang="en-US" sz="2800" dirty="0" smtClean="0"/>
          </a:p>
          <a:p>
            <a:pPr fontAlgn="base"/>
            <a:r>
              <a:rPr lang="en-US" dirty="0" smtClean="0"/>
              <a:t>The biggest strength of Python is huge collection of standard library which can be used for the following –</a:t>
            </a:r>
            <a:endParaRPr lang="en-US" sz="2800" dirty="0" smtClean="0"/>
          </a:p>
          <a:p>
            <a:pPr lvl="1" fontAlgn="base"/>
            <a:r>
              <a:rPr lang="en-US" u="sng" dirty="0" smtClean="0">
                <a:hlinkClick r:id="rId2"/>
              </a:rPr>
              <a:t>Machine Learning</a:t>
            </a:r>
            <a:endParaRPr lang="en-US" sz="2400" dirty="0" smtClean="0"/>
          </a:p>
          <a:p>
            <a:pPr lvl="1" fontAlgn="base"/>
            <a:r>
              <a:rPr lang="en-US" dirty="0" smtClean="0"/>
              <a:t>GUI Applications (like Kivy, Tkinter, PyQt etc. )</a:t>
            </a:r>
            <a:endParaRPr lang="en-US" sz="2400" dirty="0" smtClean="0"/>
          </a:p>
          <a:p>
            <a:pPr lvl="1" fontAlgn="base"/>
            <a:r>
              <a:rPr lang="en-US" dirty="0" smtClean="0"/>
              <a:t>Web frameworks like Django (used by YouTube, Instagram, Dropbox)</a:t>
            </a:r>
            <a:endParaRPr lang="en-US" sz="2400" dirty="0" smtClean="0"/>
          </a:p>
          <a:p>
            <a:pPr lvl="1" fontAlgn="base"/>
            <a:r>
              <a:rPr lang="en-US" dirty="0" smtClean="0"/>
              <a:t>Image processing (like Opencv, Pillow)</a:t>
            </a:r>
            <a:endParaRPr lang="en-US" sz="2400" dirty="0" smtClean="0"/>
          </a:p>
          <a:p>
            <a:pPr lvl="1" fontAlgn="base"/>
            <a:r>
              <a:rPr lang="en-US" dirty="0" smtClean="0"/>
              <a:t>Web scraping (like Scrapy, BeautifulSoup, Selenium)</a:t>
            </a:r>
            <a:endParaRPr lang="en-US" sz="2400" dirty="0" smtClean="0"/>
          </a:p>
          <a:p>
            <a:pPr lvl="1" fontAlgn="base"/>
            <a:r>
              <a:rPr lang="en-US" dirty="0" smtClean="0"/>
              <a:t>Test frameworks</a:t>
            </a:r>
            <a:endParaRPr lang="en-US" sz="2400" dirty="0" smtClean="0"/>
          </a:p>
          <a:p>
            <a:pPr lvl="1" fontAlgn="base"/>
            <a:r>
              <a:rPr lang="en-US" dirty="0" smtClean="0"/>
              <a:t>Multimedia</a:t>
            </a:r>
            <a:endParaRPr lang="en-US" sz="2400" dirty="0" smtClean="0"/>
          </a:p>
          <a:p>
            <a:pPr fontAlgn="base"/>
            <a:r>
              <a:rPr lang="en-US" dirty="0" smtClean="0"/>
              <a:t> </a:t>
            </a:r>
            <a:endParaRPr lang="en-GB" dirty="0">
              <a:latin typeface="Calisto MT" pitchFamily="18" charset="0"/>
            </a:endParaRPr>
          </a:p>
        </p:txBody>
      </p:sp>
      <p:sp>
        <p:nvSpPr>
          <p:cNvPr id="4" name="Footer Placeholder 3"/>
          <p:cNvSpPr>
            <a:spLocks noGrp="1"/>
          </p:cNvSpPr>
          <p:nvPr>
            <p:ph type="ftr" sz="quarter" idx="11"/>
          </p:nvPr>
        </p:nvSpPr>
        <p:spPr/>
        <p:txBody>
          <a:bodyPr/>
          <a:lstStyle/>
          <a:p>
            <a:r>
              <a:rPr lang="en-US" dirty="0" smtClean="0"/>
              <a:t>MY-ANURAG</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17</a:t>
            </a:fld>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6"/>
                </a:solidFill>
              </a:rPr>
              <a:t>PYTHON LIBARIES</a:t>
            </a:r>
            <a:endParaRPr lang="en-US" b="1" dirty="0">
              <a:solidFill>
                <a:schemeClr val="accent6"/>
              </a:solidFill>
            </a:endParaRPr>
          </a:p>
        </p:txBody>
      </p:sp>
      <p:sp>
        <p:nvSpPr>
          <p:cNvPr id="3" name="Content Placeholder 2"/>
          <p:cNvSpPr>
            <a:spLocks noGrp="1"/>
          </p:cNvSpPr>
          <p:nvPr>
            <p:ph idx="1"/>
          </p:nvPr>
        </p:nvSpPr>
        <p:spPr/>
        <p:txBody>
          <a:bodyPr>
            <a:normAutofit fontScale="92500" lnSpcReduction="10000"/>
          </a:bodyPr>
          <a:lstStyle/>
          <a:p>
            <a:pPr lvl="0" fontAlgn="base"/>
            <a:r>
              <a:rPr lang="en-US" b="1" dirty="0">
                <a:latin typeface="Times New Roman" pitchFamily="18" charset="0"/>
                <a:cs typeface="Times New Roman" pitchFamily="18" charset="0"/>
              </a:rPr>
              <a:t>NumPy</a:t>
            </a:r>
            <a:r>
              <a:rPr lang="en-US" dirty="0">
                <a:latin typeface="Times New Roman" pitchFamily="18" charset="0"/>
                <a:cs typeface="Times New Roman" pitchFamily="18" charset="0"/>
              </a:rPr>
              <a:t>: Base n-dimensional array package</a:t>
            </a:r>
          </a:p>
          <a:p>
            <a:pPr lvl="0" fontAlgn="base"/>
            <a:r>
              <a:rPr lang="en-US" b="1" dirty="0">
                <a:latin typeface="Times New Roman" pitchFamily="18" charset="0"/>
                <a:cs typeface="Times New Roman" pitchFamily="18" charset="0"/>
              </a:rPr>
              <a:t>SciPy</a:t>
            </a:r>
            <a:r>
              <a:rPr lang="en-US" dirty="0">
                <a:latin typeface="Times New Roman" pitchFamily="18" charset="0"/>
                <a:cs typeface="Times New Roman" pitchFamily="18" charset="0"/>
              </a:rPr>
              <a:t>: Fundamental library for scientific computing</a:t>
            </a:r>
          </a:p>
          <a:p>
            <a:pPr lvl="0" fontAlgn="base"/>
            <a:r>
              <a:rPr lang="en-US" b="1" dirty="0">
                <a:latin typeface="Times New Roman" pitchFamily="18" charset="0"/>
                <a:cs typeface="Times New Roman" pitchFamily="18" charset="0"/>
              </a:rPr>
              <a:t>Matplotlib</a:t>
            </a:r>
            <a:r>
              <a:rPr lang="en-US" dirty="0">
                <a:latin typeface="Times New Roman" pitchFamily="18" charset="0"/>
                <a:cs typeface="Times New Roman" pitchFamily="18" charset="0"/>
              </a:rPr>
              <a:t>: Comprehensive 2D/3D plotting</a:t>
            </a:r>
          </a:p>
          <a:p>
            <a:pPr lvl="0" fontAlgn="base"/>
            <a:r>
              <a:rPr lang="en-US" b="1" dirty="0">
                <a:latin typeface="Times New Roman" pitchFamily="18" charset="0"/>
                <a:cs typeface="Times New Roman" pitchFamily="18" charset="0"/>
              </a:rPr>
              <a:t>IPython</a:t>
            </a:r>
            <a:r>
              <a:rPr lang="en-US" dirty="0">
                <a:latin typeface="Times New Roman" pitchFamily="18" charset="0"/>
                <a:cs typeface="Times New Roman" pitchFamily="18" charset="0"/>
              </a:rPr>
              <a:t>: Enhanced interactive console</a:t>
            </a:r>
          </a:p>
          <a:p>
            <a:pPr lvl="0" fontAlgn="base"/>
            <a:r>
              <a:rPr lang="en-US" b="1" dirty="0">
                <a:latin typeface="Times New Roman" pitchFamily="18" charset="0"/>
                <a:cs typeface="Times New Roman" pitchFamily="18" charset="0"/>
              </a:rPr>
              <a:t>Sympy</a:t>
            </a:r>
            <a:r>
              <a:rPr lang="en-US" dirty="0">
                <a:latin typeface="Times New Roman" pitchFamily="18" charset="0"/>
                <a:cs typeface="Times New Roman" pitchFamily="18" charset="0"/>
              </a:rPr>
              <a:t>: Symbolic mathematics</a:t>
            </a:r>
          </a:p>
          <a:p>
            <a:pPr lvl="0" fontAlgn="base"/>
            <a:r>
              <a:rPr lang="en-US" b="1" dirty="0">
                <a:latin typeface="Times New Roman" pitchFamily="18" charset="0"/>
                <a:cs typeface="Times New Roman" pitchFamily="18" charset="0"/>
              </a:rPr>
              <a:t>Pandas</a:t>
            </a:r>
            <a:r>
              <a:rPr lang="en-US" dirty="0">
                <a:latin typeface="Times New Roman" pitchFamily="18" charset="0"/>
                <a:cs typeface="Times New Roman" pitchFamily="18" charset="0"/>
              </a:rPr>
              <a:t>: Data structures and analysis</a:t>
            </a:r>
          </a:p>
          <a:p>
            <a:r>
              <a:rPr lang="en-US" dirty="0">
                <a:latin typeface="Times New Roman" pitchFamily="18" charset="0"/>
                <a:cs typeface="Times New Roman" pitchFamily="18" charset="0"/>
              </a:rPr>
              <a:t>Extensions or modules for SciPy care conventionally named </a:t>
            </a:r>
            <a:r>
              <a:rPr lang="en-US" dirty="0">
                <a:latin typeface="Times New Roman" pitchFamily="18" charset="0"/>
                <a:cs typeface="Times New Roman" pitchFamily="18" charset="0"/>
                <a:hlinkClick r:id="rId2"/>
              </a:rPr>
              <a:t>SciKits</a:t>
            </a:r>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4CC5E9EF-9995-46C3-A752-B3A2D9286500}" type="slidenum">
              <a:rPr lang="en-IN" smtClean="0"/>
              <a:pPr/>
              <a:t>18</a:t>
            </a:fld>
            <a:endParaRPr lang="en-IN" dirty="0"/>
          </a:p>
        </p:txBody>
      </p:sp>
    </p:spTree>
    <p:extLst>
      <p:ext uri="{BB962C8B-B14F-4D97-AF65-F5344CB8AC3E}">
        <p14:creationId xmlns:p14="http://schemas.microsoft.com/office/powerpoint/2010/main" xmlns="" val="17266483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4000" b="1" dirty="0" smtClean="0">
                <a:solidFill>
                  <a:srgbClr val="FF6600"/>
                </a:solidFill>
                <a:latin typeface="Calisto MT" pitchFamily="18" charset="0"/>
              </a:rPr>
              <a:t>TESTING</a:t>
            </a:r>
            <a:endParaRPr lang="en-GB" sz="4000" b="1" dirty="0">
              <a:solidFill>
                <a:srgbClr val="FF6600"/>
              </a:solidFill>
              <a:latin typeface="Calisto MT" pitchFamily="18" charset="0"/>
            </a:endParaRPr>
          </a:p>
        </p:txBody>
      </p:sp>
      <p:sp>
        <p:nvSpPr>
          <p:cNvPr id="3" name="Content Placeholder 2"/>
          <p:cNvSpPr>
            <a:spLocks noGrp="1"/>
          </p:cNvSpPr>
          <p:nvPr>
            <p:ph idx="1"/>
          </p:nvPr>
        </p:nvSpPr>
        <p:spPr/>
        <p:txBody>
          <a:bodyPr>
            <a:normAutofit fontScale="70000" lnSpcReduction="20000"/>
          </a:bodyPr>
          <a:lstStyle/>
          <a:p>
            <a:r>
              <a:rPr lang="en-US" b="1" dirty="0" smtClean="0"/>
              <a:t>Testing</a:t>
            </a:r>
            <a:endParaRPr lang="en-US" sz="3600" b="1" dirty="0" smtClean="0"/>
          </a:p>
          <a:p>
            <a:pPr>
              <a:buNone/>
            </a:pPr>
            <a:r>
              <a:rPr lang="en-US" dirty="0" smtClean="0"/>
              <a:t> </a:t>
            </a:r>
            <a:endParaRPr lang="en-US" b="1" dirty="0" smtClean="0"/>
          </a:p>
          <a:p>
            <a:pPr>
              <a:buNone/>
            </a:pPr>
            <a:r>
              <a:rPr lang="en-US" dirty="0" smtClean="0"/>
              <a:t>Testing is a process of executing a program with the aim of finding error.To make our software perform well it should be error free. If testing is done successfully it will remove all the errors from the software.</a:t>
            </a:r>
            <a:endParaRPr lang="en-US" b="1" dirty="0" smtClean="0"/>
          </a:p>
          <a:p>
            <a:pPr>
              <a:buNone/>
            </a:pPr>
            <a:r>
              <a:rPr lang="en-US" b="1" dirty="0" smtClean="0"/>
              <a:t>Types ofTesting</a:t>
            </a:r>
            <a:endParaRPr lang="en-US" sz="2800" b="1" i="1" dirty="0" smtClean="0"/>
          </a:p>
          <a:p>
            <a:r>
              <a:rPr lang="en-US" dirty="0" smtClean="0"/>
              <a:t> </a:t>
            </a:r>
            <a:endParaRPr lang="en-US" b="1" dirty="0" smtClean="0"/>
          </a:p>
          <a:p>
            <a:pPr lvl="3"/>
            <a:r>
              <a:rPr lang="en-US" dirty="0" smtClean="0"/>
              <a:t>White BoxTesting</a:t>
            </a:r>
            <a:endParaRPr lang="en-US" sz="1800" dirty="0" smtClean="0"/>
          </a:p>
          <a:p>
            <a:pPr lvl="3"/>
            <a:r>
              <a:rPr lang="en-US" dirty="0" smtClean="0"/>
              <a:t>Black BoxTesting</a:t>
            </a:r>
            <a:endParaRPr lang="en-US" sz="1800" dirty="0" smtClean="0"/>
          </a:p>
          <a:p>
            <a:pPr lvl="3"/>
            <a:r>
              <a:rPr lang="en-US" dirty="0" smtClean="0"/>
              <a:t>Unit testing</a:t>
            </a:r>
            <a:endParaRPr lang="en-US" sz="1800" dirty="0" smtClean="0"/>
          </a:p>
          <a:p>
            <a:pPr lvl="3"/>
            <a:r>
              <a:rPr lang="en-US" dirty="0" smtClean="0"/>
              <a:t>IntegrationTesting</a:t>
            </a:r>
            <a:endParaRPr lang="en-US" sz="1800" dirty="0" smtClean="0"/>
          </a:p>
          <a:p>
            <a:pPr lvl="3"/>
            <a:r>
              <a:rPr lang="en-US" dirty="0" smtClean="0"/>
              <a:t>AlphaTesting</a:t>
            </a:r>
            <a:endParaRPr lang="en-US" sz="1800" dirty="0" smtClean="0"/>
          </a:p>
          <a:p>
            <a:pPr lvl="3"/>
            <a:r>
              <a:rPr lang="en-US" dirty="0" smtClean="0"/>
              <a:t>BetaTesting</a:t>
            </a:r>
            <a:endParaRPr lang="en-US" sz="1800" dirty="0" smtClean="0"/>
          </a:p>
          <a:p>
            <a:pPr lvl="3"/>
            <a:r>
              <a:rPr lang="en-US" dirty="0" smtClean="0"/>
              <a:t>Performance Testing and so on</a:t>
            </a:r>
            <a:endParaRPr lang="en-US" sz="1800" dirty="0" smtClean="0"/>
          </a:p>
          <a:p>
            <a:endParaRPr lang="en-GB" dirty="0"/>
          </a:p>
        </p:txBody>
      </p:sp>
      <p:sp>
        <p:nvSpPr>
          <p:cNvPr id="4" name="Footer Placeholder 3"/>
          <p:cNvSpPr>
            <a:spLocks noGrp="1"/>
          </p:cNvSpPr>
          <p:nvPr>
            <p:ph type="ftr" sz="quarter" idx="11"/>
          </p:nvPr>
        </p:nvSpPr>
        <p:spPr/>
        <p:txBody>
          <a:bodyPr/>
          <a:lstStyle/>
          <a:p>
            <a:r>
              <a:rPr lang="en-US" dirty="0" smtClean="0"/>
              <a:t>MY-ANURAG</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19</a:t>
            </a:fld>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4000" b="1" dirty="0" smtClean="0">
                <a:solidFill>
                  <a:srgbClr val="FF6600"/>
                </a:solidFill>
                <a:latin typeface="Calisto MT" pitchFamily="18" charset="0"/>
              </a:rPr>
              <a:t>TESTCASE</a:t>
            </a:r>
            <a:endParaRPr lang="en-GB" sz="4000" b="1" dirty="0">
              <a:solidFill>
                <a:srgbClr val="FF6600"/>
              </a:solidFill>
              <a:latin typeface="Calisto MT" pitchFamily="18" charset="0"/>
            </a:endParaRPr>
          </a:p>
        </p:txBody>
      </p:sp>
      <p:sp>
        <p:nvSpPr>
          <p:cNvPr id="4" name="Footer Placeholder 3"/>
          <p:cNvSpPr>
            <a:spLocks noGrp="1"/>
          </p:cNvSpPr>
          <p:nvPr>
            <p:ph type="ftr" sz="quarter" idx="11"/>
          </p:nvPr>
        </p:nvSpPr>
        <p:spPr/>
        <p:txBody>
          <a:bodyPr/>
          <a:lstStyle/>
          <a:p>
            <a:r>
              <a:rPr lang="en-US" dirty="0" smtClean="0"/>
              <a:t>MY-ANURAG</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20</a:t>
            </a:fld>
            <a:endParaRPr lang="en-US" dirty="0"/>
          </a:p>
        </p:txBody>
      </p:sp>
      <p:pic>
        <p:nvPicPr>
          <p:cNvPr id="1026" name="Picture 2"/>
          <p:cNvPicPr>
            <a:picLocks noGrp="1" noChangeAspect="1" noChangeArrowheads="1"/>
          </p:cNvPicPr>
          <p:nvPr>
            <p:ph idx="1"/>
          </p:nvPr>
        </p:nvPicPr>
        <p:blipFill>
          <a:blip r:embed="rId2"/>
          <a:srcRect/>
          <a:stretch>
            <a:fillRect/>
          </a:stretch>
        </p:blipFill>
        <p:spPr bwMode="auto">
          <a:xfrm>
            <a:off x="1160884" y="1676400"/>
            <a:ext cx="6382916" cy="409192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4000" b="1" dirty="0" smtClean="0">
                <a:solidFill>
                  <a:srgbClr val="FF6600"/>
                </a:solidFill>
                <a:latin typeface="Calisto MT" pitchFamily="18" charset="0"/>
              </a:rPr>
              <a:t>RESULTS</a:t>
            </a:r>
            <a:endParaRPr lang="en-GB" sz="4000" b="1" dirty="0">
              <a:solidFill>
                <a:srgbClr val="FF6600"/>
              </a:solidFill>
              <a:latin typeface="Calisto MT" pitchFamily="18" charset="0"/>
            </a:endParaRPr>
          </a:p>
        </p:txBody>
      </p:sp>
      <p:sp>
        <p:nvSpPr>
          <p:cNvPr id="3" name="Content Placeholder 2"/>
          <p:cNvSpPr>
            <a:spLocks noGrp="1"/>
          </p:cNvSpPr>
          <p:nvPr>
            <p:ph idx="1"/>
          </p:nvPr>
        </p:nvSpPr>
        <p:spPr/>
        <p:txBody>
          <a:bodyPr/>
          <a:lstStyle/>
          <a:p>
            <a:endParaRPr lang="en-GB" dirty="0"/>
          </a:p>
        </p:txBody>
      </p:sp>
      <p:sp>
        <p:nvSpPr>
          <p:cNvPr id="4" name="Footer Placeholder 3"/>
          <p:cNvSpPr>
            <a:spLocks noGrp="1"/>
          </p:cNvSpPr>
          <p:nvPr>
            <p:ph type="ftr" sz="quarter" idx="11"/>
          </p:nvPr>
        </p:nvSpPr>
        <p:spPr/>
        <p:txBody>
          <a:bodyPr/>
          <a:lstStyle/>
          <a:p>
            <a:r>
              <a:rPr lang="en-US" dirty="0" smtClean="0"/>
              <a:t>MY-ANURAG</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21</a:t>
            </a:fld>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4000" b="1" dirty="0" smtClean="0">
                <a:solidFill>
                  <a:srgbClr val="FF6600"/>
                </a:solidFill>
                <a:latin typeface="Calisto MT" pitchFamily="18" charset="0"/>
              </a:rPr>
              <a:t>CONCLUSION</a:t>
            </a:r>
            <a:endParaRPr lang="en-GB" sz="4000" b="1" dirty="0">
              <a:solidFill>
                <a:srgbClr val="FF6600"/>
              </a:solidFill>
              <a:latin typeface="Calisto MT" pitchFamily="18" charset="0"/>
            </a:endParaRPr>
          </a:p>
        </p:txBody>
      </p:sp>
      <p:sp>
        <p:nvSpPr>
          <p:cNvPr id="3" name="Content Placeholder 2"/>
          <p:cNvSpPr>
            <a:spLocks noGrp="1"/>
          </p:cNvSpPr>
          <p:nvPr>
            <p:ph idx="1"/>
          </p:nvPr>
        </p:nvSpPr>
        <p:spPr/>
        <p:txBody>
          <a:bodyPr/>
          <a:lstStyle/>
          <a:p>
            <a:r>
              <a:rPr lang="en-US" dirty="0" smtClean="0"/>
              <a:t>Face detection is performed and Using the two labels which were declared one for color and the other for title, faces in the image are classified as with mask or without mask. Accuracy percentage is displayed in white color at the top of the image.</a:t>
            </a:r>
          </a:p>
          <a:p>
            <a:endParaRPr lang="en-GB" dirty="0"/>
          </a:p>
        </p:txBody>
      </p:sp>
      <p:sp>
        <p:nvSpPr>
          <p:cNvPr id="4" name="Footer Placeholder 3"/>
          <p:cNvSpPr>
            <a:spLocks noGrp="1"/>
          </p:cNvSpPr>
          <p:nvPr>
            <p:ph type="ftr" sz="quarter" idx="11"/>
          </p:nvPr>
        </p:nvSpPr>
        <p:spPr/>
        <p:txBody>
          <a:bodyPr/>
          <a:lstStyle/>
          <a:p>
            <a:r>
              <a:rPr lang="en-US" dirty="0" smtClean="0"/>
              <a:t>MY-ANURAG</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22</a:t>
            </a:fld>
            <a:endParaRPr 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4000" b="1" dirty="0" smtClean="0">
                <a:solidFill>
                  <a:srgbClr val="FF6600"/>
                </a:solidFill>
                <a:latin typeface="Calisto MT" pitchFamily="18" charset="0"/>
              </a:rPr>
              <a:t>FUTURE ENHANCEMENTS</a:t>
            </a:r>
            <a:endParaRPr lang="en-GB" sz="4000" b="1" dirty="0">
              <a:solidFill>
                <a:srgbClr val="FF6600"/>
              </a:solidFill>
              <a:latin typeface="Calisto MT" pitchFamily="18" charset="0"/>
            </a:endParaRPr>
          </a:p>
        </p:txBody>
      </p:sp>
      <p:sp>
        <p:nvSpPr>
          <p:cNvPr id="3" name="Content Placeholder 2"/>
          <p:cNvSpPr>
            <a:spLocks noGrp="1"/>
          </p:cNvSpPr>
          <p:nvPr>
            <p:ph idx="1"/>
          </p:nvPr>
        </p:nvSpPr>
        <p:spPr/>
        <p:txBody>
          <a:bodyPr>
            <a:normAutofit fontScale="70000" lnSpcReduction="20000"/>
          </a:bodyPr>
          <a:lstStyle/>
          <a:p>
            <a:r>
              <a:rPr lang="en-US" dirty="0" smtClean="0"/>
              <a:t>The present model proposed gives great accuracy for single face with and without mask. </a:t>
            </a:r>
            <a:endParaRPr lang="en-US" dirty="0" smtClean="0"/>
          </a:p>
          <a:p>
            <a:r>
              <a:rPr lang="en-US" dirty="0" smtClean="0"/>
              <a:t>For </a:t>
            </a:r>
            <a:r>
              <a:rPr lang="en-US" dirty="0" smtClean="0"/>
              <a:t>multiple faces also it gives quite good accuracy. It works easily on any mobile device just by switching on the video stream, with no external hardware requirement. </a:t>
            </a:r>
            <a:endParaRPr lang="en-US" dirty="0" smtClean="0"/>
          </a:p>
          <a:p>
            <a:r>
              <a:rPr lang="en-US" dirty="0" smtClean="0"/>
              <a:t>Further </a:t>
            </a:r>
            <a:r>
              <a:rPr lang="en-US" dirty="0" smtClean="0"/>
              <a:t>we will work for improving the accuracy for multiple face mask detection, to classify the faces into three categories that is, With mask, without mask, Improper mask instead of just the two with and without mask class by adding datasets with images of people wearing masks not covering their noses properly and also to detect the masked face using the </a:t>
            </a:r>
            <a:r>
              <a:rPr lang="en-US" dirty="0" err="1" smtClean="0"/>
              <a:t>FaceNet</a:t>
            </a:r>
            <a:r>
              <a:rPr lang="en-US" dirty="0" smtClean="0"/>
              <a:t> model of Convolutional Neural Network like in  so as to further improve our model and add marking attendance feature in it by detecting the face even when the mask is on.</a:t>
            </a:r>
          </a:p>
          <a:p>
            <a:endParaRPr lang="en-GB" dirty="0"/>
          </a:p>
        </p:txBody>
      </p:sp>
      <p:sp>
        <p:nvSpPr>
          <p:cNvPr id="4" name="Footer Placeholder 3"/>
          <p:cNvSpPr>
            <a:spLocks noGrp="1"/>
          </p:cNvSpPr>
          <p:nvPr>
            <p:ph type="ftr" sz="quarter" idx="11"/>
          </p:nvPr>
        </p:nvSpPr>
        <p:spPr/>
        <p:txBody>
          <a:bodyPr/>
          <a:lstStyle/>
          <a:p>
            <a:r>
              <a:rPr lang="en-US" dirty="0" smtClean="0"/>
              <a:t>MY-ANURAG</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23</a:t>
            </a:fld>
            <a:endParaRPr 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4000" b="1" dirty="0" smtClean="0">
                <a:solidFill>
                  <a:srgbClr val="FF6600"/>
                </a:solidFill>
                <a:latin typeface="Calisto MT" pitchFamily="18" charset="0"/>
              </a:rPr>
              <a:t>REFERENCES</a:t>
            </a:r>
            <a:endParaRPr lang="en-GB" sz="4000" b="1" dirty="0">
              <a:solidFill>
                <a:srgbClr val="FF6600"/>
              </a:solidFill>
              <a:latin typeface="Calisto MT" pitchFamily="18" charset="0"/>
            </a:endParaRPr>
          </a:p>
        </p:txBody>
      </p:sp>
      <p:sp>
        <p:nvSpPr>
          <p:cNvPr id="3" name="Content Placeholder 2"/>
          <p:cNvSpPr>
            <a:spLocks noGrp="1"/>
          </p:cNvSpPr>
          <p:nvPr>
            <p:ph idx="1"/>
          </p:nvPr>
        </p:nvSpPr>
        <p:spPr/>
        <p:txBody>
          <a:bodyPr>
            <a:normAutofit fontScale="77500" lnSpcReduction="20000"/>
          </a:bodyPr>
          <a:lstStyle/>
          <a:p>
            <a:pPr>
              <a:buNone/>
            </a:pPr>
            <a:r>
              <a:rPr lang="en-US" dirty="0" smtClean="0"/>
              <a:t>[1] K. He X. Zhang S. </a:t>
            </a:r>
            <a:r>
              <a:rPr lang="en-US" dirty="0" err="1" smtClean="0"/>
              <a:t>Ren</a:t>
            </a:r>
            <a:r>
              <a:rPr lang="en-US" dirty="0" smtClean="0"/>
              <a:t> and J. Sun "Deep residual learning for image recognition" 2016 IEEE Conference on Computer Vision and Pattern Recognition (CVPR) pp. 770-778 2016.</a:t>
            </a:r>
          </a:p>
          <a:p>
            <a:pPr>
              <a:buNone/>
            </a:pPr>
            <a:r>
              <a:rPr lang="en-US" dirty="0" smtClean="0"/>
              <a:t> [2 ] K. Li G. Ding and H. Wang "L-</a:t>
            </a:r>
            <a:r>
              <a:rPr lang="en-US" dirty="0" err="1" smtClean="0"/>
              <a:t>fcn</a:t>
            </a:r>
            <a:r>
              <a:rPr lang="en-US" dirty="0" smtClean="0"/>
              <a:t>: A lightweight fully </a:t>
            </a:r>
            <a:r>
              <a:rPr lang="en-US" dirty="0" err="1" smtClean="0"/>
              <a:t>convolutional</a:t>
            </a:r>
            <a:r>
              <a:rPr lang="en-US" dirty="0" smtClean="0"/>
              <a:t> network for biomedical semantic segmentation" 2018 IEEE International Conference on Bioinformatics and Biomedicine (BIBM) pp. 2363-2367 Dec 2018. </a:t>
            </a:r>
          </a:p>
          <a:p>
            <a:pPr>
              <a:buNone/>
            </a:pPr>
            <a:r>
              <a:rPr lang="en-US" dirty="0" smtClean="0"/>
              <a:t>[3] S. </a:t>
            </a:r>
            <a:r>
              <a:rPr lang="en-US" dirty="0" err="1" smtClean="0"/>
              <a:t>Ge</a:t>
            </a:r>
            <a:r>
              <a:rPr lang="en-US" dirty="0" smtClean="0"/>
              <a:t>, J. Li, Q. Ye and Z. </a:t>
            </a:r>
            <a:r>
              <a:rPr lang="en-US" dirty="0" err="1" smtClean="0"/>
              <a:t>Luo</a:t>
            </a:r>
            <a:r>
              <a:rPr lang="en-US" dirty="0" smtClean="0"/>
              <a:t>, "Detecting Masked Faces in the Wild with LLE-CNNs," 2017 IEEE Conference on Computer Vision and Pattern Recognition (CVPR), Honolulu, HI, 2017, pp. 426-434, </a:t>
            </a:r>
            <a:r>
              <a:rPr lang="en-US" dirty="0" err="1" smtClean="0"/>
              <a:t>doi</a:t>
            </a:r>
            <a:r>
              <a:rPr lang="en-US" dirty="0" smtClean="0"/>
              <a:t>: 10.1109/CVPR.2017.53.</a:t>
            </a:r>
          </a:p>
          <a:p>
            <a:endParaRPr lang="en-GB" dirty="0"/>
          </a:p>
        </p:txBody>
      </p:sp>
      <p:sp>
        <p:nvSpPr>
          <p:cNvPr id="4" name="Footer Placeholder 3"/>
          <p:cNvSpPr>
            <a:spLocks noGrp="1"/>
          </p:cNvSpPr>
          <p:nvPr>
            <p:ph type="ftr" sz="quarter" idx="11"/>
          </p:nvPr>
        </p:nvSpPr>
        <p:spPr/>
        <p:txBody>
          <a:bodyPr/>
          <a:lstStyle/>
          <a:p>
            <a:r>
              <a:rPr lang="en-US" dirty="0" smtClean="0"/>
              <a:t>MY-ANURAG</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24</a:t>
            </a:fld>
            <a:endParaRPr 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4000" b="1" dirty="0" smtClean="0">
                <a:solidFill>
                  <a:srgbClr val="FF6600"/>
                </a:solidFill>
                <a:latin typeface="Calisto MT" pitchFamily="18" charset="0"/>
              </a:rPr>
              <a:t>BIBLIOGRAPHY</a:t>
            </a:r>
            <a:endParaRPr lang="en-US" sz="4000" b="1" dirty="0"/>
          </a:p>
        </p:txBody>
      </p:sp>
      <p:sp>
        <p:nvSpPr>
          <p:cNvPr id="3" name="Content Placeholder 2"/>
          <p:cNvSpPr>
            <a:spLocks noGrp="1"/>
          </p:cNvSpPr>
          <p:nvPr>
            <p:ph idx="1"/>
          </p:nvPr>
        </p:nvSpPr>
        <p:spPr/>
        <p:txBody>
          <a:bodyPr>
            <a:normAutofit fontScale="70000" lnSpcReduction="20000"/>
          </a:bodyPr>
          <a:lstStyle/>
          <a:p>
            <a:pPr>
              <a:buNone/>
            </a:pPr>
            <a:r>
              <a:rPr lang="en-US" b="1" dirty="0" smtClean="0"/>
              <a:t>Textbooks:</a:t>
            </a:r>
            <a:r>
              <a:rPr lang="en-US" dirty="0" smtClean="0"/>
              <a:t> </a:t>
            </a:r>
          </a:p>
          <a:p>
            <a:pPr lvl="0">
              <a:buNone/>
            </a:pPr>
            <a:r>
              <a:rPr lang="en-US" b="1" dirty="0" smtClean="0"/>
              <a:t>Programming Python,</a:t>
            </a:r>
            <a:r>
              <a:rPr lang="en-US" dirty="0" smtClean="0"/>
              <a:t> </a:t>
            </a:r>
            <a:r>
              <a:rPr lang="en-US" b="1" dirty="0" smtClean="0"/>
              <a:t>Mark Lutz</a:t>
            </a:r>
            <a:endParaRPr lang="en-US" dirty="0" smtClean="0"/>
          </a:p>
          <a:p>
            <a:pPr lvl="0">
              <a:buNone/>
            </a:pPr>
            <a:r>
              <a:rPr lang="en-US" b="1" dirty="0" smtClean="0"/>
              <a:t> Head First Python,</a:t>
            </a:r>
            <a:r>
              <a:rPr lang="en-US" dirty="0" smtClean="0"/>
              <a:t> </a:t>
            </a:r>
            <a:r>
              <a:rPr lang="en-US" b="1" dirty="0" smtClean="0"/>
              <a:t>Paul Barry</a:t>
            </a:r>
            <a:endParaRPr lang="en-US" dirty="0" smtClean="0"/>
          </a:p>
          <a:p>
            <a:pPr lvl="0">
              <a:buNone/>
            </a:pPr>
            <a:r>
              <a:rPr lang="en-US" b="1" dirty="0" smtClean="0"/>
              <a:t>Core Python Programming,R. Nageswara Rao</a:t>
            </a:r>
            <a:endParaRPr lang="en-US" dirty="0" smtClean="0"/>
          </a:p>
          <a:p>
            <a:pPr lvl="0">
              <a:buNone/>
            </a:pPr>
            <a:r>
              <a:rPr lang="en-US" b="1" dirty="0" smtClean="0"/>
              <a:t>Learning with Python, Allen B. Downey</a:t>
            </a:r>
            <a:endParaRPr lang="en-US" dirty="0" smtClean="0"/>
          </a:p>
          <a:p>
            <a:pPr>
              <a:buNone/>
            </a:pPr>
            <a:endParaRPr lang="en-US" b="1" dirty="0" smtClean="0"/>
          </a:p>
          <a:p>
            <a:pPr>
              <a:buNone/>
            </a:pPr>
            <a:r>
              <a:rPr lang="en-US" b="1" dirty="0" smtClean="0"/>
              <a:t>Websites:</a:t>
            </a:r>
            <a:endParaRPr lang="en-US" dirty="0" smtClean="0"/>
          </a:p>
          <a:p>
            <a:pPr lvl="0">
              <a:buNone/>
            </a:pPr>
            <a:r>
              <a:rPr lang="en-US" b="1" dirty="0" smtClean="0">
                <a:latin typeface="Times New Roman" pitchFamily="18" charset="0"/>
                <a:cs typeface="Times New Roman" pitchFamily="18" charset="0"/>
              </a:rPr>
              <a:t>https://www.w3schools.com/python/</a:t>
            </a:r>
            <a:endParaRPr lang="en-US" dirty="0" smtClean="0">
              <a:latin typeface="Times New Roman" pitchFamily="18" charset="0"/>
              <a:cs typeface="Times New Roman" pitchFamily="18" charset="0"/>
            </a:endParaRPr>
          </a:p>
          <a:p>
            <a:pPr lvl="0">
              <a:buNone/>
            </a:pPr>
            <a:r>
              <a:rPr lang="en-US" b="1" dirty="0" smtClean="0">
                <a:latin typeface="Times New Roman" pitchFamily="18" charset="0"/>
                <a:cs typeface="Times New Roman" pitchFamily="18" charset="0"/>
              </a:rPr>
              <a:t>https://www.tutorialspoint.com/python/index.htm</a:t>
            </a:r>
            <a:endParaRPr lang="en-US" dirty="0" smtClean="0">
              <a:latin typeface="Times New Roman" pitchFamily="18" charset="0"/>
              <a:cs typeface="Times New Roman" pitchFamily="18" charset="0"/>
            </a:endParaRPr>
          </a:p>
          <a:p>
            <a:pPr lvl="0">
              <a:buNone/>
            </a:pPr>
            <a:r>
              <a:rPr lang="en-US" b="1" dirty="0" smtClean="0">
                <a:latin typeface="Times New Roman" pitchFamily="18" charset="0"/>
                <a:cs typeface="Times New Roman" pitchFamily="18" charset="0"/>
              </a:rPr>
              <a:t>https://www.javatpoint.com/python-tutorial</a:t>
            </a:r>
            <a:endParaRPr lang="en-US" dirty="0" smtClean="0">
              <a:latin typeface="Times New Roman" pitchFamily="18" charset="0"/>
              <a:cs typeface="Times New Roman" pitchFamily="18" charset="0"/>
            </a:endParaRPr>
          </a:p>
          <a:p>
            <a:pPr lvl="0">
              <a:buNone/>
            </a:pPr>
            <a:r>
              <a:rPr lang="en-US" b="1" dirty="0" smtClean="0">
                <a:latin typeface="Times New Roman" pitchFamily="18" charset="0"/>
                <a:cs typeface="Times New Roman" pitchFamily="18" charset="0"/>
              </a:rPr>
              <a:t>https://www.learnpython.org/</a:t>
            </a:r>
            <a:endParaRPr lang="en-US" dirty="0" smtClean="0">
              <a:latin typeface="Times New Roman" pitchFamily="18" charset="0"/>
              <a:cs typeface="Times New Roman" pitchFamily="18" charset="0"/>
            </a:endParaRPr>
          </a:p>
          <a:p>
            <a:pPr lvl="0">
              <a:buNone/>
            </a:pPr>
            <a:r>
              <a:rPr lang="en-US" b="1" dirty="0" smtClean="0">
                <a:latin typeface="Times New Roman" pitchFamily="18" charset="0"/>
                <a:cs typeface="Times New Roman" pitchFamily="18" charset="0"/>
              </a:rPr>
              <a:t>https://www.pythontutorial.net/</a:t>
            </a:r>
            <a:endParaRPr lang="en-US" dirty="0" smtClean="0"/>
          </a:p>
          <a:p>
            <a:endParaRPr lang="en-US" dirty="0"/>
          </a:p>
        </p:txBody>
      </p:sp>
      <p:sp>
        <p:nvSpPr>
          <p:cNvPr id="4" name="Footer Placeholder 3"/>
          <p:cNvSpPr>
            <a:spLocks noGrp="1"/>
          </p:cNvSpPr>
          <p:nvPr>
            <p:ph type="ftr" sz="quarter" idx="11"/>
          </p:nvPr>
        </p:nvSpPr>
        <p:spPr/>
        <p:txBody>
          <a:bodyPr/>
          <a:lstStyle/>
          <a:p>
            <a:r>
              <a:rPr lang="en-US" dirty="0" smtClean="0"/>
              <a:t>MY-ANURAG</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25</a:t>
            </a:fld>
            <a:endParaRPr 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685800" y="2130425"/>
            <a:ext cx="7772400" cy="1831975"/>
          </a:xfrm>
        </p:spPr>
        <p:txBody>
          <a:bodyPr>
            <a:normAutofit/>
          </a:bodyPr>
          <a:lstStyle/>
          <a:p>
            <a:r>
              <a:rPr lang="en-GB" sz="4000" b="1" i="1" dirty="0" smtClean="0">
                <a:solidFill>
                  <a:srgbClr val="FF6600"/>
                </a:solidFill>
                <a:latin typeface="Calisto MT" pitchFamily="18" charset="0"/>
              </a:rPr>
              <a:t>THANK YOU</a:t>
            </a:r>
            <a:endParaRPr lang="en-GB" sz="4000" b="1" i="1" dirty="0">
              <a:solidFill>
                <a:srgbClr val="FF6600"/>
              </a:solidFill>
              <a:latin typeface="Calisto MT" pitchFamily="18"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365</TotalTime>
  <Words>1797</Words>
  <Application>Microsoft Office PowerPoint</Application>
  <PresentationFormat>On-screen Show (4:3)</PresentationFormat>
  <Paragraphs>233</Paragraphs>
  <Slides>26</Slides>
  <Notes>0</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Office Theme</vt:lpstr>
      <vt:lpstr>    </vt:lpstr>
      <vt:lpstr>CONTENTS</vt:lpstr>
      <vt:lpstr>ABSTRACT</vt:lpstr>
      <vt:lpstr>LITERATURE SURVEY</vt:lpstr>
      <vt:lpstr>INTRODUCTION</vt:lpstr>
      <vt:lpstr>PROBLEM STATEMENT</vt:lpstr>
      <vt:lpstr>EXISTING SYSTEM WITH DRAWBACKS</vt:lpstr>
      <vt:lpstr>PROPOSED SYSTEM WITH ADVANTAGES</vt:lpstr>
      <vt:lpstr>SYSTEM REQUIREMENTS</vt:lpstr>
      <vt:lpstr>MODULES DESCRIPTION</vt:lpstr>
      <vt:lpstr>DESIGN MODELS</vt:lpstr>
      <vt:lpstr>USECASE DIAGRAM</vt:lpstr>
      <vt:lpstr>CLASS DIAGRAM</vt:lpstr>
      <vt:lpstr>SEQUENCE DIAGRAM</vt:lpstr>
      <vt:lpstr>ACTIVITY DIAGRAM</vt:lpstr>
      <vt:lpstr>IMPLEMENTATION</vt:lpstr>
      <vt:lpstr>TECHNOLOGIES</vt:lpstr>
      <vt:lpstr>PYTHON LIBARIES</vt:lpstr>
      <vt:lpstr>TESTING</vt:lpstr>
      <vt:lpstr>TESTCASE</vt:lpstr>
      <vt:lpstr>RESULTS</vt:lpstr>
      <vt:lpstr>CONCLUSION</vt:lpstr>
      <vt:lpstr>FUTURE ENHANCEMENTS</vt:lpstr>
      <vt:lpstr>REFERENCES</vt:lpstr>
      <vt:lpstr>BIBLIOGRAPHY</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 TITLE</dc:title>
  <dc:creator>GENIUS</dc:creator>
  <cp:lastModifiedBy>GENIUS</cp:lastModifiedBy>
  <cp:revision>133</cp:revision>
  <dcterms:created xsi:type="dcterms:W3CDTF">2006-08-16T00:00:00Z</dcterms:created>
  <dcterms:modified xsi:type="dcterms:W3CDTF">2021-11-10T08:00:18Z</dcterms:modified>
</cp:coreProperties>
</file>